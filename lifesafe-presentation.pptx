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70" r:id="rId4"/>
    <p:sldId id="258" r:id="rId5"/>
    <p:sldId id="260" r:id="rId6"/>
    <p:sldId id="271" r:id="rId7"/>
    <p:sldId id="259" r:id="rId8"/>
    <p:sldId id="266" r:id="rId9"/>
    <p:sldId id="261" r:id="rId10"/>
    <p:sldId id="262" r:id="rId11"/>
    <p:sldId id="264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Medium" pitchFamily="2" charset="0"/>
      <p:regular r:id="rId19"/>
      <p:bold r:id="rId20"/>
      <p:italic r:id="rId21"/>
      <p:boldItalic r:id="rId22"/>
    </p:embeddedFont>
    <p:embeddedFont>
      <p:font typeface="Urbani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F02"/>
    <a:srgbClr val="13171F"/>
    <a:srgbClr val="855510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5BC907-7C89-4CF0-ABDD-B6B3D58FAEED}">
  <a:tblStyle styleId="{F85BC907-7C89-4CF0-ABDD-B6B3D58FAE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85033" autoAdjust="0"/>
  </p:normalViewPr>
  <p:slideViewPr>
    <p:cSldViewPr snapToGrid="0">
      <p:cViewPr varScale="1">
        <p:scale>
          <a:sx n="41" d="100"/>
          <a:sy n="41" d="100"/>
        </p:scale>
        <p:origin x="29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438AB7A-4F00-FA04-453C-68B44F92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6ABEF922-D01D-3896-BDA4-1927163CF0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AE24EA5-BCCD-F082-975E-80563B370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661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B394EB6-65C4-9637-D772-023ED134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7A92A92-608D-97BB-685D-140500B41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A888D45-75A2-4560-2D28-66256D677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883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1526C28-FB38-50B4-0A22-724B6CCA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>
            <a:extLst>
              <a:ext uri="{FF2B5EF4-FFF2-40B4-BE49-F238E27FC236}">
                <a16:creationId xmlns:a16="http://schemas.microsoft.com/office/drawing/2014/main" id="{40AE36EE-B696-C793-1EE4-6CAA89CE7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832FE87A-DBB9-DBB1-3157-B6F8F56AA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419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7.svg"/><Relationship Id="rId10" Type="http://schemas.openxmlformats.org/officeDocument/2006/relationships/image" Target="../media/image9.sv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hyperlink" Target="https://creativecommons.org/licenses/by-nc-sa/3.0/" TargetMode="External"/><Relationship Id="rId5" Type="http://schemas.openxmlformats.org/officeDocument/2006/relationships/image" Target="../media/image7.svg"/><Relationship Id="rId10" Type="http://schemas.openxmlformats.org/officeDocument/2006/relationships/hyperlink" Target="https://www.josepauloecon.com/2020/06/o-valor-da-empatia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6.jpeg"/><Relationship Id="rId3" Type="http://schemas.openxmlformats.org/officeDocument/2006/relationships/image" Target="../media/image1.png"/><Relationship Id="rId7" Type="http://schemas.openxmlformats.org/officeDocument/2006/relationships/image" Target="../media/image23.jpeg"/><Relationship Id="rId12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4.jpeg"/><Relationship Id="rId5" Type="http://schemas.openxmlformats.org/officeDocument/2006/relationships/image" Target="../media/image22.svg"/><Relationship Id="rId10" Type="http://schemas.openxmlformats.org/officeDocument/2006/relationships/image" Target="../media/image5.svg"/><Relationship Id="rId4" Type="http://schemas.openxmlformats.org/officeDocument/2006/relationships/image" Target="../media/image21.png"/><Relationship Id="rId9" Type="http://schemas.openxmlformats.org/officeDocument/2006/relationships/image" Target="../media/image4.png"/><Relationship Id="rId1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33.png"/><Relationship Id="rId5" Type="http://schemas.openxmlformats.org/officeDocument/2006/relationships/image" Target="../media/image5.svg"/><Relationship Id="rId10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39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2.png"/><Relationship Id="rId5" Type="http://schemas.openxmlformats.org/officeDocument/2006/relationships/image" Target="../media/image37.svg"/><Relationship Id="rId15" Type="http://schemas.openxmlformats.org/officeDocument/2006/relationships/image" Target="../media/image44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2;p14" descr="image.png">
            <a:extLst>
              <a:ext uri="{FF2B5EF4-FFF2-40B4-BE49-F238E27FC236}">
                <a16:creationId xmlns:a16="http://schemas.microsoft.com/office/drawing/2014/main" id="{C042BE0D-D937-63F1-E034-E68248AAD4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394" y="77028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7" y="161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3;p14" descr="image.png">
            <a:extLst>
              <a:ext uri="{FF2B5EF4-FFF2-40B4-BE49-F238E27FC236}">
                <a16:creationId xmlns:a16="http://schemas.microsoft.com/office/drawing/2014/main" id="{8B654EB2-9648-27B1-588A-0B1A20A980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8900" y="10579387"/>
            <a:ext cx="5038725" cy="192777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4;p14">
            <a:extLst>
              <a:ext uri="{FF2B5EF4-FFF2-40B4-BE49-F238E27FC236}">
                <a16:creationId xmlns:a16="http://schemas.microsoft.com/office/drawing/2014/main" id="{56F9BFB5-D1DE-E9E6-46C9-5B5FF0FD125F}"/>
              </a:ext>
            </a:extLst>
          </p:cNvPr>
          <p:cNvSpPr txBox="1"/>
          <p:nvPr/>
        </p:nvSpPr>
        <p:spPr>
          <a:xfrm>
            <a:off x="828674" y="9398475"/>
            <a:ext cx="50387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Lifesafe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bridges the critical gap between </a:t>
            </a:r>
            <a:r>
              <a:rPr lang="en-US" sz="1800" b="1" i="0" u="none" strike="noStrike" cap="none" dirty="0">
                <a:solidFill>
                  <a:srgbClr val="FF9800"/>
                </a:solidFill>
                <a:latin typeface="DM Sans"/>
                <a:ea typeface="DM Sans"/>
                <a:cs typeface="DM Sans"/>
                <a:sym typeface="DM Sans"/>
              </a:rPr>
              <a:t>proactive wellness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and </a:t>
            </a:r>
            <a:r>
              <a:rPr lang="en-US" sz="1800" b="1" i="0" u="none" strike="noStrike" cap="none" dirty="0">
                <a:solidFill>
                  <a:srgbClr val="FF9800"/>
                </a:solidFill>
                <a:latin typeface="DM Sans"/>
                <a:ea typeface="DM Sans"/>
                <a:cs typeface="DM Sans"/>
                <a:sym typeface="DM Sans"/>
              </a:rPr>
              <a:t>reactive care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</a:t>
            </a:r>
            <a:endParaRPr dirty="0"/>
          </a:p>
        </p:txBody>
      </p:sp>
      <p:sp>
        <p:nvSpPr>
          <p:cNvPr id="8" name="Google Shape;95;p14">
            <a:extLst>
              <a:ext uri="{FF2B5EF4-FFF2-40B4-BE49-F238E27FC236}">
                <a16:creationId xmlns:a16="http://schemas.microsoft.com/office/drawing/2014/main" id="{357BC0F3-C41B-5222-71C4-5FED8A8A375F}"/>
              </a:ext>
            </a:extLst>
          </p:cNvPr>
          <p:cNvSpPr txBox="1"/>
          <p:nvPr/>
        </p:nvSpPr>
        <p:spPr>
          <a:xfrm>
            <a:off x="6858000" y="11131837"/>
            <a:ext cx="4238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"Mental health disorders cost the global economy $16T annually. We provide the digital foundation to mitigate that loss through preventive engagement."</a:t>
            </a:r>
            <a:endParaRPr/>
          </a:p>
        </p:txBody>
      </p:sp>
      <p:sp>
        <p:nvSpPr>
          <p:cNvPr id="9" name="Google Shape;96;p14">
            <a:extLst>
              <a:ext uri="{FF2B5EF4-FFF2-40B4-BE49-F238E27FC236}">
                <a16:creationId xmlns:a16="http://schemas.microsoft.com/office/drawing/2014/main" id="{0239E5FB-917A-8A43-8EDE-6205DDF52E58}"/>
              </a:ext>
            </a:extLst>
          </p:cNvPr>
          <p:cNvSpPr txBox="1"/>
          <p:nvPr/>
        </p:nvSpPr>
        <p:spPr>
          <a:xfrm>
            <a:off x="828673" y="10900590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Scalable React-based architecture</a:t>
            </a:r>
            <a:endParaRPr dirty="0"/>
          </a:p>
        </p:txBody>
      </p:sp>
      <p:sp>
        <p:nvSpPr>
          <p:cNvPr id="10" name="Google Shape;97;p14">
            <a:extLst>
              <a:ext uri="{FF2B5EF4-FFF2-40B4-BE49-F238E27FC236}">
                <a16:creationId xmlns:a16="http://schemas.microsoft.com/office/drawing/2014/main" id="{5F8B00DB-4F7E-5ED7-D518-C0A11BD26190}"/>
              </a:ext>
            </a:extLst>
          </p:cNvPr>
          <p:cNvSpPr txBox="1"/>
          <p:nvPr/>
        </p:nvSpPr>
        <p:spPr>
          <a:xfrm>
            <a:off x="828673" y="11340812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Integrated low-friction support system</a:t>
            </a:r>
            <a:endParaRPr dirty="0"/>
          </a:p>
        </p:txBody>
      </p:sp>
      <p:sp>
        <p:nvSpPr>
          <p:cNvPr id="11" name="Google Shape;98;p14">
            <a:extLst>
              <a:ext uri="{FF2B5EF4-FFF2-40B4-BE49-F238E27FC236}">
                <a16:creationId xmlns:a16="http://schemas.microsoft.com/office/drawing/2014/main" id="{FB1AF435-4FFE-A662-7F44-6733504B5E91}"/>
              </a:ext>
            </a:extLst>
          </p:cNvPr>
          <p:cNvSpPr txBox="1"/>
          <p:nvPr/>
        </p:nvSpPr>
        <p:spPr>
          <a:xfrm>
            <a:off x="828673" y="11854696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AI-driven development for rapid scale</a:t>
            </a:r>
            <a:endParaRPr dirty="0"/>
          </a:p>
        </p:txBody>
      </p:sp>
      <p:pic>
        <p:nvPicPr>
          <p:cNvPr id="12" name="Google Shape;99;p14" descr="image.png">
            <a:extLst>
              <a:ext uri="{FF2B5EF4-FFF2-40B4-BE49-F238E27FC236}">
                <a16:creationId xmlns:a16="http://schemas.microsoft.com/office/drawing/2014/main" id="{72D3BD17-975A-9566-CD71-D33268612C6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1148322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0;p14" descr="image.png">
            <a:extLst>
              <a:ext uri="{FF2B5EF4-FFF2-40B4-BE49-F238E27FC236}">
                <a16:creationId xmlns:a16="http://schemas.microsoft.com/office/drawing/2014/main" id="{0839C604-FB0F-4AFF-08BA-EF028A5618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1194801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4" descr="image.png">
            <a:extLst>
              <a:ext uri="{FF2B5EF4-FFF2-40B4-BE49-F238E27FC236}">
                <a16:creationId xmlns:a16="http://schemas.microsoft.com/office/drawing/2014/main" id="{8F7EA007-ADAB-D94A-D983-EA4CE79074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" y="12412801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03;p14">
            <a:extLst>
              <a:ext uri="{FF2B5EF4-FFF2-40B4-BE49-F238E27FC236}">
                <a16:creationId xmlns:a16="http://schemas.microsoft.com/office/drawing/2014/main" id="{FAF43852-BD6E-3D5A-A231-BA92A9181B51}"/>
              </a:ext>
            </a:extLst>
          </p:cNvPr>
          <p:cNvSpPr/>
          <p:nvPr/>
        </p:nvSpPr>
        <p:spPr>
          <a:xfrm>
            <a:off x="455203" y="8164449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6;p13">
            <a:extLst>
              <a:ext uri="{FF2B5EF4-FFF2-40B4-BE49-F238E27FC236}">
                <a16:creationId xmlns:a16="http://schemas.microsoft.com/office/drawing/2014/main" id="{F499A636-FDDB-47A2-86AF-D5217A322308}"/>
              </a:ext>
            </a:extLst>
          </p:cNvPr>
          <p:cNvSpPr txBox="1"/>
          <p:nvPr/>
        </p:nvSpPr>
        <p:spPr>
          <a:xfrm>
            <a:off x="0" y="8037750"/>
            <a:ext cx="63573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What is LIFESAFE</a:t>
            </a:r>
            <a:endParaRPr sz="4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3DA9D7-5D13-0E9F-BB3D-0D1C997663E0}"/>
              </a:ext>
            </a:extLst>
          </p:cNvPr>
          <p:cNvSpPr/>
          <p:nvPr/>
        </p:nvSpPr>
        <p:spPr>
          <a:xfrm>
            <a:off x="-1777" y="1724139"/>
            <a:ext cx="12175600" cy="1547678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Google Shape;87;p13">
            <a:extLst>
              <a:ext uri="{FF2B5EF4-FFF2-40B4-BE49-F238E27FC236}">
                <a16:creationId xmlns:a16="http://schemas.microsoft.com/office/drawing/2014/main" id="{991A5B88-6AC6-366B-C8AA-954AE79E95D0}"/>
              </a:ext>
            </a:extLst>
          </p:cNvPr>
          <p:cNvSpPr txBox="1"/>
          <p:nvPr/>
        </p:nvSpPr>
        <p:spPr>
          <a:xfrm>
            <a:off x="249336" y="4884458"/>
            <a:ext cx="994844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/>
                </a:solidFill>
                <a:latin typeface="DM Sans Medium" pitchFamily="2" charset="0"/>
              </a:rPr>
              <a:t>Made By Jayden Ankrah, Leonardo </a:t>
            </a:r>
            <a:r>
              <a:rPr lang="en-US" sz="2800" dirty="0" err="1">
                <a:solidFill>
                  <a:schemeClr val="bg1"/>
                </a:solidFill>
                <a:latin typeface="DM Sans Medium" pitchFamily="2" charset="0"/>
              </a:rPr>
              <a:t>Odaguire</a:t>
            </a:r>
            <a:r>
              <a:rPr lang="en-US" sz="2800" dirty="0">
                <a:solidFill>
                  <a:schemeClr val="bg1"/>
                </a:solidFill>
                <a:latin typeface="DM Sans Medium" pitchFamily="2" charset="0"/>
              </a:rPr>
              <a:t>, and Dylan </a:t>
            </a:r>
            <a:r>
              <a:rPr lang="en-US" sz="2800" dirty="0" err="1">
                <a:solidFill>
                  <a:schemeClr val="bg1"/>
                </a:solidFill>
                <a:latin typeface="DM Sans Medium" pitchFamily="2" charset="0"/>
              </a:rPr>
              <a:t>Kukulka</a:t>
            </a:r>
            <a:r>
              <a:rPr lang="en-US" sz="2800" dirty="0">
                <a:solidFill>
                  <a:schemeClr val="bg1"/>
                </a:solidFill>
                <a:latin typeface="DM Sans Medium" pitchFamily="2" charset="0"/>
              </a:rPr>
              <a:t> </a:t>
            </a:r>
            <a:endParaRPr sz="2800" dirty="0">
              <a:solidFill>
                <a:schemeClr val="bg1"/>
              </a:solidFill>
              <a:latin typeface="DM Sans Medium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D794C5-2D72-6FBC-DBE2-A83FF0DF13D2}"/>
              </a:ext>
            </a:extLst>
          </p:cNvPr>
          <p:cNvSpPr/>
          <p:nvPr/>
        </p:nvSpPr>
        <p:spPr>
          <a:xfrm>
            <a:off x="-22277" y="-19847"/>
            <a:ext cx="12216600" cy="1743986"/>
          </a:xfrm>
          <a:prstGeom prst="rect">
            <a:avLst/>
          </a:prstGeom>
          <a:solidFill>
            <a:srgbClr val="1317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6049558B-5F96-1DE9-CFF8-3CBCFBF230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7156265" y="1940846"/>
            <a:ext cx="2578054" cy="11140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9336" y="1995610"/>
            <a:ext cx="4615208" cy="1074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LIFESAFE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49336" y="3388718"/>
            <a:ext cx="76200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bg1"/>
                </a:solidFill>
                <a:latin typeface="DM Sans Medium" pitchFamily="2" charset="0"/>
              </a:rPr>
              <a:t>A Single Mental Wellness App For People Seeking Help</a:t>
            </a:r>
            <a:endParaRPr sz="2800" dirty="0">
              <a:solidFill>
                <a:schemeClr val="bg1"/>
              </a:solidFill>
              <a:latin typeface="DM Sans Medium" pitchFamily="2" charset="0"/>
            </a:endParaRPr>
          </a:p>
        </p:txBody>
      </p:sp>
      <p:pic>
        <p:nvPicPr>
          <p:cNvPr id="3" name="Google Shape;93;p14" descr="image.png">
            <a:extLst>
              <a:ext uri="{FF2B5EF4-FFF2-40B4-BE49-F238E27FC236}">
                <a16:creationId xmlns:a16="http://schemas.microsoft.com/office/drawing/2014/main" id="{076F12ED-03B4-E426-49D1-3DAA0BD241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7156265" y="1975511"/>
            <a:ext cx="2578054" cy="111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D496A51F-EE25-F9D1-2151-DFFEEDC050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6265" y="1981195"/>
            <a:ext cx="2578054" cy="111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raphic 23" descr="Medical with solid fill">
            <a:extLst>
              <a:ext uri="{FF2B5EF4-FFF2-40B4-BE49-F238E27FC236}">
                <a16:creationId xmlns:a16="http://schemas.microsoft.com/office/drawing/2014/main" id="{88261171-2F3A-F38C-6344-EFBA5EF0F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8265" y="1768893"/>
            <a:ext cx="1454054" cy="1454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B744D1B-F84F-C989-27C4-BAE3EE44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DE4D7A66-B443-890E-6C06-80CA9962EF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3933" y="-391"/>
            <a:ext cx="12192000" cy="6858000"/>
          </a:xfrm>
          <a:prstGeom prst="rect">
            <a:avLst/>
          </a:prstGeom>
          <a:solidFill>
            <a:srgbClr val="13171F"/>
          </a:solidFill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71CE3827-B0F4-7E43-188B-B540D2DE825D}"/>
              </a:ext>
            </a:extLst>
          </p:cNvPr>
          <p:cNvSpPr txBox="1"/>
          <p:nvPr/>
        </p:nvSpPr>
        <p:spPr>
          <a:xfrm>
            <a:off x="420912" y="2338932"/>
            <a:ext cx="5513528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4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LIFESAFE is a digital wellness companion for people who want quick, private support.</a:t>
            </a:r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409E9F12-005B-8120-CAB2-C845D05FB116}"/>
              </a:ext>
            </a:extLst>
          </p:cNvPr>
          <p:cNvSpPr/>
          <p:nvPr/>
        </p:nvSpPr>
        <p:spPr>
          <a:xfrm>
            <a:off x="398053" y="631614"/>
            <a:ext cx="45719" cy="63423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221417B0-931A-3D12-FB2C-841360A93C51}"/>
              </a:ext>
            </a:extLst>
          </p:cNvPr>
          <p:cNvSpPr txBox="1"/>
          <p:nvPr/>
        </p:nvSpPr>
        <p:spPr>
          <a:xfrm>
            <a:off x="121298" y="631614"/>
            <a:ext cx="562072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What is LIFESAFE</a:t>
            </a:r>
            <a:endParaRPr sz="48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32EE25-5DA6-62F8-0D92-00B0B34A4E72}"/>
              </a:ext>
            </a:extLst>
          </p:cNvPr>
          <p:cNvSpPr/>
          <p:nvPr/>
        </p:nvSpPr>
        <p:spPr>
          <a:xfrm>
            <a:off x="7993626" y="10900319"/>
            <a:ext cx="4198374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FCF630-F866-051C-70F1-AB894422CBC2}"/>
              </a:ext>
            </a:extLst>
          </p:cNvPr>
          <p:cNvSpPr/>
          <p:nvPr/>
        </p:nvSpPr>
        <p:spPr>
          <a:xfrm>
            <a:off x="3692009" y="9109133"/>
            <a:ext cx="4301618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DF242F-7041-7595-2205-9B48E0959110}"/>
              </a:ext>
            </a:extLst>
          </p:cNvPr>
          <p:cNvSpPr/>
          <p:nvPr/>
        </p:nvSpPr>
        <p:spPr>
          <a:xfrm>
            <a:off x="-44245" y="7696050"/>
            <a:ext cx="3736253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A8AA397-4C02-D630-09EF-3A176F9C160D}"/>
              </a:ext>
            </a:extLst>
          </p:cNvPr>
          <p:cNvSpPr/>
          <p:nvPr/>
        </p:nvSpPr>
        <p:spPr>
          <a:xfrm>
            <a:off x="1052051" y="9460940"/>
            <a:ext cx="1543664" cy="13937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07C0D1D-4DE1-2904-4ABE-FD493E6B837F}"/>
              </a:ext>
            </a:extLst>
          </p:cNvPr>
          <p:cNvSpPr/>
          <p:nvPr/>
        </p:nvSpPr>
        <p:spPr>
          <a:xfrm>
            <a:off x="9153829" y="11917789"/>
            <a:ext cx="1543664" cy="13937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E69FCF6-C294-D1CA-A5C5-58196551330E}"/>
              </a:ext>
            </a:extLst>
          </p:cNvPr>
          <p:cNvSpPr/>
          <p:nvPr/>
        </p:nvSpPr>
        <p:spPr>
          <a:xfrm>
            <a:off x="4938250" y="10561647"/>
            <a:ext cx="1543664" cy="13937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486336-070A-F8E1-F75B-11C265B71813}"/>
              </a:ext>
            </a:extLst>
          </p:cNvPr>
          <p:cNvSpPr txBox="1"/>
          <p:nvPr/>
        </p:nvSpPr>
        <p:spPr>
          <a:xfrm>
            <a:off x="712834" y="11317749"/>
            <a:ext cx="226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Lorem Ipsum Dolor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CC7CA7-6AD0-8943-7857-91E140684623}"/>
              </a:ext>
            </a:extLst>
          </p:cNvPr>
          <p:cNvSpPr txBox="1"/>
          <p:nvPr/>
        </p:nvSpPr>
        <p:spPr>
          <a:xfrm>
            <a:off x="4488412" y="12946834"/>
            <a:ext cx="2507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wwwwwwwwwwwwwwwwwwwwwwwwwwwwwwwwwwwwwwwwwwwwwwwwwwwwwwwwww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DF344D-173C-49C6-9E38-7B1F035DA7EB}"/>
              </a:ext>
            </a:extLst>
          </p:cNvPr>
          <p:cNvSpPr txBox="1"/>
          <p:nvPr/>
        </p:nvSpPr>
        <p:spPr>
          <a:xfrm>
            <a:off x="712834" y="11828907"/>
            <a:ext cx="2507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wwwwwwwwwwwwwwwwwwwwwwwwwwwwwwwwwwwwwwwwwwwwwwwwwwwwwwwwww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C0A22A-D96B-EE5C-F4DA-E84D91AC7D9A}"/>
              </a:ext>
            </a:extLst>
          </p:cNvPr>
          <p:cNvSpPr txBox="1"/>
          <p:nvPr/>
        </p:nvSpPr>
        <p:spPr>
          <a:xfrm>
            <a:off x="8794952" y="14242003"/>
            <a:ext cx="2507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wwwwwwwwwwwwwwwwwwwwwwwwwwwwwwwwwwwwwwwwwwwwwwwwwwwwwwwwww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10CA60-FE66-950A-8A62-C87CB7ACF4C6}"/>
              </a:ext>
            </a:extLst>
          </p:cNvPr>
          <p:cNvSpPr txBox="1"/>
          <p:nvPr/>
        </p:nvSpPr>
        <p:spPr>
          <a:xfrm>
            <a:off x="8962103" y="13747052"/>
            <a:ext cx="226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Lorem Ipsum Dolor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FC5F58-B77E-3196-3459-9C86520CEC37}"/>
              </a:ext>
            </a:extLst>
          </p:cNvPr>
          <p:cNvSpPr txBox="1"/>
          <p:nvPr/>
        </p:nvSpPr>
        <p:spPr>
          <a:xfrm>
            <a:off x="4579373" y="12306874"/>
            <a:ext cx="226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Lorem Ipsum Dolor </a:t>
            </a:r>
          </a:p>
        </p:txBody>
      </p:sp>
      <p:sp>
        <p:nvSpPr>
          <p:cNvPr id="62" name="Google Shape;86;p13">
            <a:extLst>
              <a:ext uri="{FF2B5EF4-FFF2-40B4-BE49-F238E27FC236}">
                <a16:creationId xmlns:a16="http://schemas.microsoft.com/office/drawing/2014/main" id="{3BD94087-3AFA-7E27-36F7-C075AF53B3F6}"/>
              </a:ext>
            </a:extLst>
          </p:cNvPr>
          <p:cNvSpPr txBox="1"/>
          <p:nvPr/>
        </p:nvSpPr>
        <p:spPr>
          <a:xfrm>
            <a:off x="4061233" y="9384591"/>
            <a:ext cx="34980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Goals At LIFESAFE</a:t>
            </a:r>
            <a:endParaRPr sz="3200" dirty="0"/>
          </a:p>
        </p:txBody>
      </p:sp>
      <p:sp>
        <p:nvSpPr>
          <p:cNvPr id="63" name="Google Shape;103;p14">
            <a:extLst>
              <a:ext uri="{FF2B5EF4-FFF2-40B4-BE49-F238E27FC236}">
                <a16:creationId xmlns:a16="http://schemas.microsoft.com/office/drawing/2014/main" id="{D1634EA7-3792-431B-099C-0C05EAD0E567}"/>
              </a:ext>
            </a:extLst>
          </p:cNvPr>
          <p:cNvSpPr/>
          <p:nvPr/>
        </p:nvSpPr>
        <p:spPr>
          <a:xfrm flipH="1">
            <a:off x="4115925" y="9877034"/>
            <a:ext cx="3498032" cy="4571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raphic 63" descr="Angel face with solid fill with solid fill">
            <a:extLst>
              <a:ext uri="{FF2B5EF4-FFF2-40B4-BE49-F238E27FC236}">
                <a16:creationId xmlns:a16="http://schemas.microsoft.com/office/drawing/2014/main" id="{FCCEA5A5-2428-466D-D8C4-13ABA8E43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6681" y="9714606"/>
            <a:ext cx="914400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A9E8FB-FBE8-D6D8-E3AB-E6347B0958D1}"/>
              </a:ext>
            </a:extLst>
          </p:cNvPr>
          <p:cNvSpPr/>
          <p:nvPr/>
        </p:nvSpPr>
        <p:spPr>
          <a:xfrm>
            <a:off x="6827374" y="-12758"/>
            <a:ext cx="3736253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491EBFC1-3F2B-F694-A47D-56B189CDBF1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7406639" y="2794374"/>
            <a:ext cx="2560321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3;p14" descr="image.png">
            <a:extLst>
              <a:ext uri="{FF2B5EF4-FFF2-40B4-BE49-F238E27FC236}">
                <a16:creationId xmlns:a16="http://schemas.microsoft.com/office/drawing/2014/main" id="{B743D717-00F8-456A-AE29-BAC0E2252BA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>
            <a:off x="7537814" y="2795992"/>
            <a:ext cx="2315572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4" descr="Medical with solid fill">
            <a:extLst>
              <a:ext uri="{FF2B5EF4-FFF2-40B4-BE49-F238E27FC236}">
                <a16:creationId xmlns:a16="http://schemas.microsoft.com/office/drawing/2014/main" id="{7DF62E4D-7347-4AA3-8889-44C6E922E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3790" y="2819681"/>
            <a:ext cx="583620" cy="583620"/>
          </a:xfrm>
          <a:prstGeom prst="rect">
            <a:avLst/>
          </a:prstGeom>
        </p:spPr>
      </p:pic>
      <p:pic>
        <p:nvPicPr>
          <p:cNvPr id="10" name="Graphic 9" descr="Heartbeat with solid fill">
            <a:extLst>
              <a:ext uri="{FF2B5EF4-FFF2-40B4-BE49-F238E27FC236}">
                <a16:creationId xmlns:a16="http://schemas.microsoft.com/office/drawing/2014/main" id="{9B517A50-CCD4-81CD-4CD4-C4F6BEB9E4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5274" y="4270895"/>
            <a:ext cx="1213039" cy="1213039"/>
          </a:xfrm>
          <a:prstGeom prst="rect">
            <a:avLst/>
          </a:prstGeom>
        </p:spPr>
      </p:pic>
      <p:pic>
        <p:nvPicPr>
          <p:cNvPr id="12" name="Graphic 11" descr="Heart with pulse with solid fill">
            <a:extLst>
              <a:ext uri="{FF2B5EF4-FFF2-40B4-BE49-F238E27FC236}">
                <a16:creationId xmlns:a16="http://schemas.microsoft.com/office/drawing/2014/main" id="{68F66643-1091-6BAF-9CD3-E6967F27B0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8628" y="4262907"/>
            <a:ext cx="1406845" cy="140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69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A579EC70-6BE1-2D38-3351-D4E57DAF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>
            <a:extLst>
              <a:ext uri="{FF2B5EF4-FFF2-40B4-BE49-F238E27FC236}">
                <a16:creationId xmlns:a16="http://schemas.microsoft.com/office/drawing/2014/main" id="{20EC9B8F-E462-BA7B-96B8-950A9A3593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89"/>
            <a:ext cx="12192000" cy="6858000"/>
          </a:xfrm>
          <a:prstGeom prst="rect">
            <a:avLst/>
          </a:prstGeom>
          <a:solidFill>
            <a:srgbClr val="13171F"/>
          </a:solidFill>
          <a:ln>
            <a:noFill/>
          </a:ln>
        </p:spPr>
      </p:pic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4EBB9847-1BDA-CEEA-AD7F-4FB26F535FDE}"/>
              </a:ext>
            </a:extLst>
          </p:cNvPr>
          <p:cNvSpPr txBox="1"/>
          <p:nvPr/>
        </p:nvSpPr>
        <p:spPr>
          <a:xfrm>
            <a:off x="420912" y="1801390"/>
            <a:ext cx="5967523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 err="1">
                <a:solidFill>
                  <a:schemeClr val="bg1"/>
                </a:solidFill>
                <a:effectLst/>
                <a:latin typeface="DM Sans Medium" pitchFamily="2" charset="0"/>
              </a:rPr>
              <a:t>Lifesafe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 is an </a:t>
            </a:r>
            <a:r>
              <a:rPr lang="en-US" sz="2000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on-demand wellness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companion for people who want quick, private support</a:t>
            </a: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bg1"/>
              </a:solidFill>
              <a:latin typeface="DM Sans Medium" pitchFamily="2" charset="0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It combines </a:t>
            </a:r>
            <a:r>
              <a:rPr lang="en-US" sz="2000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mood journaling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, </a:t>
            </a:r>
            <a:r>
              <a:rPr lang="en-US" sz="2000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saved reflections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, and a </a:t>
            </a:r>
            <a:r>
              <a:rPr lang="en-US" sz="2000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friendly AI chat experience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so users can start feeling better without waiting through long clinic lines or confusing intake systems</a:t>
            </a:r>
            <a:endParaRPr sz="1600" dirty="0">
              <a:solidFill>
                <a:schemeClr val="bg1"/>
              </a:solidFill>
              <a:latin typeface="DM Sans Medium" pitchFamily="2" charset="0"/>
            </a:endParaRPr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944E7D9A-5D79-8DB3-F8E0-380D8D099BE7}"/>
              </a:ext>
            </a:extLst>
          </p:cNvPr>
          <p:cNvSpPr/>
          <p:nvPr/>
        </p:nvSpPr>
        <p:spPr>
          <a:xfrm>
            <a:off x="666774" y="304995"/>
            <a:ext cx="45719" cy="63423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EF1DD4B4-219C-11B8-8706-ACB4D4A16EC8}"/>
              </a:ext>
            </a:extLst>
          </p:cNvPr>
          <p:cNvSpPr txBox="1"/>
          <p:nvPr/>
        </p:nvSpPr>
        <p:spPr>
          <a:xfrm>
            <a:off x="304792" y="259244"/>
            <a:ext cx="543723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What We Solve</a:t>
            </a:r>
            <a:endParaRPr sz="48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2823D3-C54D-194F-0DA7-DD53AB2FC277}"/>
              </a:ext>
            </a:extLst>
          </p:cNvPr>
          <p:cNvSpPr/>
          <p:nvPr/>
        </p:nvSpPr>
        <p:spPr>
          <a:xfrm>
            <a:off x="7993626" y="10900319"/>
            <a:ext cx="4198374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6A0C5D-290A-A89B-AAF6-65C6A356A421}"/>
              </a:ext>
            </a:extLst>
          </p:cNvPr>
          <p:cNvSpPr/>
          <p:nvPr/>
        </p:nvSpPr>
        <p:spPr>
          <a:xfrm>
            <a:off x="3692009" y="9109133"/>
            <a:ext cx="4301618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0876A20-BFA3-23DC-D16D-895934B47EA8}"/>
              </a:ext>
            </a:extLst>
          </p:cNvPr>
          <p:cNvSpPr/>
          <p:nvPr/>
        </p:nvSpPr>
        <p:spPr>
          <a:xfrm>
            <a:off x="-44245" y="7696050"/>
            <a:ext cx="3736253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EC74FDB-EACF-748A-1EC5-B47395C94082}"/>
              </a:ext>
            </a:extLst>
          </p:cNvPr>
          <p:cNvSpPr/>
          <p:nvPr/>
        </p:nvSpPr>
        <p:spPr>
          <a:xfrm>
            <a:off x="1052051" y="9460940"/>
            <a:ext cx="1543664" cy="13937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84394E9-7EA0-F533-CAB0-6D133860BF18}"/>
              </a:ext>
            </a:extLst>
          </p:cNvPr>
          <p:cNvSpPr/>
          <p:nvPr/>
        </p:nvSpPr>
        <p:spPr>
          <a:xfrm>
            <a:off x="9153829" y="11917789"/>
            <a:ext cx="1543664" cy="13937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F92987A-A467-CE5B-3C44-66F981669D28}"/>
              </a:ext>
            </a:extLst>
          </p:cNvPr>
          <p:cNvSpPr/>
          <p:nvPr/>
        </p:nvSpPr>
        <p:spPr>
          <a:xfrm>
            <a:off x="4938250" y="10561647"/>
            <a:ext cx="1543664" cy="139372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E23907-75CB-E6B9-AD95-0B1F323E6FBB}"/>
              </a:ext>
            </a:extLst>
          </p:cNvPr>
          <p:cNvSpPr txBox="1"/>
          <p:nvPr/>
        </p:nvSpPr>
        <p:spPr>
          <a:xfrm>
            <a:off x="712834" y="11317749"/>
            <a:ext cx="226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Lorem Ipsum Dolor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2C96DD-41FE-FA59-3F62-75728BD48FA3}"/>
              </a:ext>
            </a:extLst>
          </p:cNvPr>
          <p:cNvSpPr txBox="1"/>
          <p:nvPr/>
        </p:nvSpPr>
        <p:spPr>
          <a:xfrm>
            <a:off x="4488412" y="12946834"/>
            <a:ext cx="2507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wwwwwwwwwwwwwwwwwwwwwwwwwwwwwwwwwwwwwwwwwwwwwwwwwwwwwwwwww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26FD9C-68ED-A529-D704-2697FD58DBE1}"/>
              </a:ext>
            </a:extLst>
          </p:cNvPr>
          <p:cNvSpPr txBox="1"/>
          <p:nvPr/>
        </p:nvSpPr>
        <p:spPr>
          <a:xfrm>
            <a:off x="712834" y="11828907"/>
            <a:ext cx="2507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wwwwwwwwwwwwwwwwwwwwwwwwwwwwwwwwwwwwwwwwwwwwwwwwwwwwwwwwww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B70995-EC93-ECE2-E659-C204CD68C413}"/>
              </a:ext>
            </a:extLst>
          </p:cNvPr>
          <p:cNvSpPr txBox="1"/>
          <p:nvPr/>
        </p:nvSpPr>
        <p:spPr>
          <a:xfrm>
            <a:off x="8794952" y="14242003"/>
            <a:ext cx="25072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wwwwwwwwwwwwwwwwwwwwwwwwwwwwwwwwwwwwwwwwwwwwwwwwwwwwwwwwww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1BE59B-F327-3E38-33D2-7D05B0A1D78C}"/>
              </a:ext>
            </a:extLst>
          </p:cNvPr>
          <p:cNvSpPr txBox="1"/>
          <p:nvPr/>
        </p:nvSpPr>
        <p:spPr>
          <a:xfrm>
            <a:off x="8962103" y="13747052"/>
            <a:ext cx="226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Lorem Ipsum Dolor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606B04-2EA5-011A-C7DA-82735A021534}"/>
              </a:ext>
            </a:extLst>
          </p:cNvPr>
          <p:cNvSpPr txBox="1"/>
          <p:nvPr/>
        </p:nvSpPr>
        <p:spPr>
          <a:xfrm>
            <a:off x="4579373" y="12306874"/>
            <a:ext cx="226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Lorem Ipsum Dolor </a:t>
            </a:r>
          </a:p>
        </p:txBody>
      </p:sp>
      <p:sp>
        <p:nvSpPr>
          <p:cNvPr id="62" name="Google Shape;86;p13">
            <a:extLst>
              <a:ext uri="{FF2B5EF4-FFF2-40B4-BE49-F238E27FC236}">
                <a16:creationId xmlns:a16="http://schemas.microsoft.com/office/drawing/2014/main" id="{C0DB2AA4-6EA1-3DB8-7C52-4489BA3999FD}"/>
              </a:ext>
            </a:extLst>
          </p:cNvPr>
          <p:cNvSpPr txBox="1"/>
          <p:nvPr/>
        </p:nvSpPr>
        <p:spPr>
          <a:xfrm>
            <a:off x="4061233" y="9384591"/>
            <a:ext cx="34980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Goals At LIFESAFE</a:t>
            </a:r>
            <a:endParaRPr sz="3200" dirty="0"/>
          </a:p>
        </p:txBody>
      </p:sp>
      <p:sp>
        <p:nvSpPr>
          <p:cNvPr id="63" name="Google Shape;103;p14">
            <a:extLst>
              <a:ext uri="{FF2B5EF4-FFF2-40B4-BE49-F238E27FC236}">
                <a16:creationId xmlns:a16="http://schemas.microsoft.com/office/drawing/2014/main" id="{FCF89214-7D68-FEA2-FB6B-A6B5399369C3}"/>
              </a:ext>
            </a:extLst>
          </p:cNvPr>
          <p:cNvSpPr/>
          <p:nvPr/>
        </p:nvSpPr>
        <p:spPr>
          <a:xfrm flipH="1">
            <a:off x="4115925" y="9877034"/>
            <a:ext cx="3498032" cy="4571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raphic 63" descr="Angel face with solid fill with solid fill">
            <a:extLst>
              <a:ext uri="{FF2B5EF4-FFF2-40B4-BE49-F238E27FC236}">
                <a16:creationId xmlns:a16="http://schemas.microsoft.com/office/drawing/2014/main" id="{0A8EB069-9538-1386-D0A5-09A031273F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6681" y="9714606"/>
            <a:ext cx="914400" cy="914400"/>
          </a:xfrm>
          <a:prstGeom prst="rect">
            <a:avLst/>
          </a:prstGeom>
        </p:spPr>
      </p:pic>
      <p:pic>
        <p:nvPicPr>
          <p:cNvPr id="3" name="Google Shape;93;p14" descr="image.png">
            <a:extLst>
              <a:ext uri="{FF2B5EF4-FFF2-40B4-BE49-F238E27FC236}">
                <a16:creationId xmlns:a16="http://schemas.microsoft.com/office/drawing/2014/main" id="{82A97C5E-CA0F-6E84-1A96-6FCFF52F389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92189" y="354211"/>
            <a:ext cx="2315572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4" descr="image.png">
            <a:extLst>
              <a:ext uri="{FF2B5EF4-FFF2-40B4-BE49-F238E27FC236}">
                <a16:creationId xmlns:a16="http://schemas.microsoft.com/office/drawing/2014/main" id="{6E620FFD-400D-5181-18FD-A97A03C83E4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5493655" y="348099"/>
            <a:ext cx="2315572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 descr="Medical with solid fill">
            <a:extLst>
              <a:ext uri="{FF2B5EF4-FFF2-40B4-BE49-F238E27FC236}">
                <a16:creationId xmlns:a16="http://schemas.microsoft.com/office/drawing/2014/main" id="{53C7C410-4C50-9724-2987-6649A9E59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104" y="373405"/>
            <a:ext cx="583620" cy="583620"/>
          </a:xfrm>
          <a:prstGeom prst="rect">
            <a:avLst/>
          </a:prstGeom>
        </p:spPr>
      </p:pic>
      <p:pic>
        <p:nvPicPr>
          <p:cNvPr id="7" name="Picture 6" descr="A pen on a book&#10;&#10;Description automatically generated">
            <a:extLst>
              <a:ext uri="{FF2B5EF4-FFF2-40B4-BE49-F238E27FC236}">
                <a16:creationId xmlns:a16="http://schemas.microsoft.com/office/drawing/2014/main" id="{61984C40-4C48-6813-1837-11BF64F707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529403" y="1618897"/>
            <a:ext cx="2780042" cy="1861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6C5443-4902-60B6-8261-82AD7002C7E7}"/>
              </a:ext>
            </a:extLst>
          </p:cNvPr>
          <p:cNvSpPr txBox="1"/>
          <p:nvPr/>
        </p:nvSpPr>
        <p:spPr>
          <a:xfrm>
            <a:off x="974506" y="6858000"/>
            <a:ext cx="10242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10" tooltip="https://www.josepauloecon.com/2020/06/o-valor-da-empatia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11" tooltip="https://creativecommons.org/licenses/by-nc-sa/3.0/"/>
              </a:rPr>
              <a:t>CC BY-SA-NC</a:t>
            </a:r>
            <a:endParaRPr lang="en-US" sz="900"/>
          </a:p>
        </p:txBody>
      </p:sp>
      <p:pic>
        <p:nvPicPr>
          <p:cNvPr id="8194" name="Picture 2" descr="Closeup view of a person writing in a journal with a cup of coffee on a ...">
            <a:extLst>
              <a:ext uri="{FF2B5EF4-FFF2-40B4-BE49-F238E27FC236}">
                <a16:creationId xmlns:a16="http://schemas.microsoft.com/office/drawing/2014/main" id="{2D627F7C-E68F-2EEB-416C-B5665EEBF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594" y="3480222"/>
            <a:ext cx="2800851" cy="186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762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8F0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42;p18" descr="image.png">
            <a:extLst>
              <a:ext uri="{FF2B5EF4-FFF2-40B4-BE49-F238E27FC236}">
                <a16:creationId xmlns:a16="http://schemas.microsoft.com/office/drawing/2014/main" id="{E08A0270-89C6-A4B2-902F-8B6DF7DBC6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6936" y="-64408"/>
            <a:ext cx="4343796" cy="6957789"/>
          </a:xfrm>
          <a:prstGeom prst="rect">
            <a:avLst/>
          </a:prstGeom>
          <a:solidFill>
            <a:srgbClr val="13171F"/>
          </a:solidFill>
          <a:ln>
            <a:noFill/>
          </a:ln>
        </p:spPr>
      </p:pic>
      <p:pic>
        <p:nvPicPr>
          <p:cNvPr id="45" name="Google Shape;142;p18" descr="image.png">
            <a:extLst>
              <a:ext uri="{FF2B5EF4-FFF2-40B4-BE49-F238E27FC236}">
                <a16:creationId xmlns:a16="http://schemas.microsoft.com/office/drawing/2014/main" id="{54A02827-0E52-92CD-F655-3803AC5228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930" y="-64408"/>
            <a:ext cx="3784112" cy="6945995"/>
          </a:xfrm>
          <a:prstGeom prst="rect">
            <a:avLst/>
          </a:prstGeom>
          <a:solidFill>
            <a:srgbClr val="13171F"/>
          </a:solidFill>
          <a:ln>
            <a:noFill/>
          </a:ln>
        </p:spPr>
      </p:pic>
      <p:pic>
        <p:nvPicPr>
          <p:cNvPr id="43" name="Google Shape;142;p18" descr="image.png">
            <a:extLst>
              <a:ext uri="{FF2B5EF4-FFF2-40B4-BE49-F238E27FC236}">
                <a16:creationId xmlns:a16="http://schemas.microsoft.com/office/drawing/2014/main" id="{A0CA10CA-E799-8354-F9C7-C1B97BEA47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1519" y="-64408"/>
            <a:ext cx="4340481" cy="6957789"/>
          </a:xfrm>
          <a:prstGeom prst="rect">
            <a:avLst/>
          </a:prstGeom>
          <a:solidFill>
            <a:srgbClr val="13171F"/>
          </a:solidFill>
          <a:ln>
            <a:noFill/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51C9316-F424-AFA2-73B2-A44F41110024}"/>
              </a:ext>
            </a:extLst>
          </p:cNvPr>
          <p:cNvSpPr/>
          <p:nvPr/>
        </p:nvSpPr>
        <p:spPr>
          <a:xfrm>
            <a:off x="1096294" y="2528082"/>
            <a:ext cx="1543664" cy="1393723"/>
          </a:xfrm>
          <a:prstGeom prst="ellipse">
            <a:avLst/>
          </a:prstGeom>
          <a:solidFill>
            <a:srgbClr val="F08F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7D5A31-DAF6-E639-0DAC-80D204AB70D1}"/>
              </a:ext>
            </a:extLst>
          </p:cNvPr>
          <p:cNvSpPr/>
          <p:nvPr/>
        </p:nvSpPr>
        <p:spPr>
          <a:xfrm>
            <a:off x="9202760" y="2411901"/>
            <a:ext cx="1543664" cy="1393723"/>
          </a:xfrm>
          <a:prstGeom prst="ellipse">
            <a:avLst/>
          </a:prstGeom>
          <a:solidFill>
            <a:srgbClr val="F08F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230C9-9427-7E4A-1C4B-0DA0FEA86047}"/>
              </a:ext>
            </a:extLst>
          </p:cNvPr>
          <p:cNvSpPr txBox="1"/>
          <p:nvPr/>
        </p:nvSpPr>
        <p:spPr>
          <a:xfrm>
            <a:off x="755032" y="4203909"/>
            <a:ext cx="2261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Safety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45A59-FBAE-6302-CDC7-1F05F8817AD5}"/>
              </a:ext>
            </a:extLst>
          </p:cNvPr>
          <p:cNvSpPr txBox="1"/>
          <p:nvPr/>
        </p:nvSpPr>
        <p:spPr>
          <a:xfrm>
            <a:off x="8790469" y="4012945"/>
            <a:ext cx="2261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Self Improvement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3099E9-2E52-02F0-9587-C1129994EC65}"/>
              </a:ext>
            </a:extLst>
          </p:cNvPr>
          <p:cNvSpPr txBox="1"/>
          <p:nvPr/>
        </p:nvSpPr>
        <p:spPr>
          <a:xfrm>
            <a:off x="4565455" y="4158804"/>
            <a:ext cx="2261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Self worth</a:t>
            </a:r>
          </a:p>
        </p:txBody>
      </p:sp>
      <p:sp>
        <p:nvSpPr>
          <p:cNvPr id="20" name="Google Shape;86;p13">
            <a:extLst>
              <a:ext uri="{FF2B5EF4-FFF2-40B4-BE49-F238E27FC236}">
                <a16:creationId xmlns:a16="http://schemas.microsoft.com/office/drawing/2014/main" id="{4E166D8D-F5CC-F18E-C617-0E7F2110828B}"/>
              </a:ext>
            </a:extLst>
          </p:cNvPr>
          <p:cNvSpPr txBox="1"/>
          <p:nvPr/>
        </p:nvSpPr>
        <p:spPr>
          <a:xfrm>
            <a:off x="977222" y="341597"/>
            <a:ext cx="365990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Goals For LIFESAFE</a:t>
            </a:r>
            <a:endParaRPr sz="3200" dirty="0"/>
          </a:p>
        </p:txBody>
      </p:sp>
      <p:sp>
        <p:nvSpPr>
          <p:cNvPr id="21" name="Google Shape;103;p14">
            <a:extLst>
              <a:ext uri="{FF2B5EF4-FFF2-40B4-BE49-F238E27FC236}">
                <a16:creationId xmlns:a16="http://schemas.microsoft.com/office/drawing/2014/main" id="{B94E906D-07E2-65E0-2979-56740822D28A}"/>
              </a:ext>
            </a:extLst>
          </p:cNvPr>
          <p:cNvSpPr/>
          <p:nvPr/>
        </p:nvSpPr>
        <p:spPr>
          <a:xfrm flipH="1">
            <a:off x="797184" y="221436"/>
            <a:ext cx="83064" cy="732767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117;p16" descr="image.png">
            <a:extLst>
              <a:ext uri="{FF2B5EF4-FFF2-40B4-BE49-F238E27FC236}">
                <a16:creationId xmlns:a16="http://schemas.microsoft.com/office/drawing/2014/main" id="{B7DE4E6B-BBC3-8B9C-250D-57E70853CF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42224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18;p16" descr="image.png">
            <a:extLst>
              <a:ext uri="{FF2B5EF4-FFF2-40B4-BE49-F238E27FC236}">
                <a16:creationId xmlns:a16="http://schemas.microsoft.com/office/drawing/2014/main" id="{46D21164-0A71-75EA-79C3-9AAAA55588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0182558"/>
            <a:ext cx="5181600" cy="220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19;p16" descr="image.png">
            <a:extLst>
              <a:ext uri="{FF2B5EF4-FFF2-40B4-BE49-F238E27FC236}">
                <a16:creationId xmlns:a16="http://schemas.microsoft.com/office/drawing/2014/main" id="{1B14CAFE-F910-5C42-6F37-C7233CFC9D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0182558"/>
            <a:ext cx="5181600" cy="220399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20;p16">
            <a:extLst>
              <a:ext uri="{FF2B5EF4-FFF2-40B4-BE49-F238E27FC236}">
                <a16:creationId xmlns:a16="http://schemas.microsoft.com/office/drawing/2014/main" id="{C26B84B3-A74E-FB2C-0AF0-154107A5AA7D}"/>
              </a:ext>
            </a:extLst>
          </p:cNvPr>
          <p:cNvSpPr txBox="1"/>
          <p:nvPr/>
        </p:nvSpPr>
        <p:spPr>
          <a:xfrm>
            <a:off x="1152525" y="10563558"/>
            <a:ext cx="46405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Traditional Care is Clinical</a:t>
            </a:r>
            <a:endParaRPr/>
          </a:p>
        </p:txBody>
      </p:sp>
      <p:sp>
        <p:nvSpPr>
          <p:cNvPr id="28" name="Google Shape;121;p16">
            <a:extLst>
              <a:ext uri="{FF2B5EF4-FFF2-40B4-BE49-F238E27FC236}">
                <a16:creationId xmlns:a16="http://schemas.microsoft.com/office/drawing/2014/main" id="{A4990488-6011-EBA0-57ED-3B9369DDDDA9}"/>
              </a:ext>
            </a:extLst>
          </p:cNvPr>
          <p:cNvSpPr txBox="1"/>
          <p:nvPr/>
        </p:nvSpPr>
        <p:spPr>
          <a:xfrm>
            <a:off x="1152525" y="11011233"/>
            <a:ext cx="4419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High barrier to entry, significant stigma, and delayed response times make traditional care inaccessible for immediate Gen Z needs.</a:t>
            </a:r>
            <a:endParaRPr/>
          </a:p>
        </p:txBody>
      </p:sp>
      <p:sp>
        <p:nvSpPr>
          <p:cNvPr id="29" name="Google Shape;122;p16">
            <a:extLst>
              <a:ext uri="{FF2B5EF4-FFF2-40B4-BE49-F238E27FC236}">
                <a16:creationId xmlns:a16="http://schemas.microsoft.com/office/drawing/2014/main" id="{E9D0C52A-DD6E-F700-13AE-D521CC4118B9}"/>
              </a:ext>
            </a:extLst>
          </p:cNvPr>
          <p:cNvSpPr txBox="1"/>
          <p:nvPr/>
        </p:nvSpPr>
        <p:spPr>
          <a:xfrm>
            <a:off x="6619875" y="10563558"/>
            <a:ext cx="46405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Most Apps are Fragmented</a:t>
            </a:r>
            <a:endParaRPr/>
          </a:p>
        </p:txBody>
      </p:sp>
      <p:sp>
        <p:nvSpPr>
          <p:cNvPr id="30" name="Google Shape;123;p16">
            <a:extLst>
              <a:ext uri="{FF2B5EF4-FFF2-40B4-BE49-F238E27FC236}">
                <a16:creationId xmlns:a16="http://schemas.microsoft.com/office/drawing/2014/main" id="{E08C502B-2F49-85D3-4FC1-94CAC1A98173}"/>
              </a:ext>
            </a:extLst>
          </p:cNvPr>
          <p:cNvSpPr txBox="1"/>
          <p:nvPr/>
        </p:nvSpPr>
        <p:spPr>
          <a:xfrm>
            <a:off x="6619875" y="11011233"/>
            <a:ext cx="4419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Users must jump between meditation apps, journaling tools, and crisis hotlines, increasing cognitive load during stress.</a:t>
            </a:r>
            <a:endParaRPr/>
          </a:p>
        </p:txBody>
      </p:sp>
      <p:sp>
        <p:nvSpPr>
          <p:cNvPr id="31" name="Google Shape;124;p16">
            <a:extLst>
              <a:ext uri="{FF2B5EF4-FFF2-40B4-BE49-F238E27FC236}">
                <a16:creationId xmlns:a16="http://schemas.microsoft.com/office/drawing/2014/main" id="{D04AEAD7-0627-F11A-71A9-8F408DB995EF}"/>
              </a:ext>
            </a:extLst>
          </p:cNvPr>
          <p:cNvSpPr txBox="1"/>
          <p:nvPr/>
        </p:nvSpPr>
        <p:spPr>
          <a:xfrm>
            <a:off x="962025" y="8193768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CURRENT BARRIER</a:t>
            </a:r>
            <a:endParaRPr/>
          </a:p>
        </p:txBody>
      </p:sp>
      <p:sp>
        <p:nvSpPr>
          <p:cNvPr id="32" name="Google Shape;125;p16">
            <a:extLst>
              <a:ext uri="{FF2B5EF4-FFF2-40B4-BE49-F238E27FC236}">
                <a16:creationId xmlns:a16="http://schemas.microsoft.com/office/drawing/2014/main" id="{CB758353-8532-EDC1-A08D-C382F20F510F}"/>
              </a:ext>
            </a:extLst>
          </p:cNvPr>
          <p:cNvSpPr/>
          <p:nvPr/>
        </p:nvSpPr>
        <p:spPr>
          <a:xfrm>
            <a:off x="771525" y="8193768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raphic 39" descr="Stethoscope with solid fill">
            <a:extLst>
              <a:ext uri="{FF2B5EF4-FFF2-40B4-BE49-F238E27FC236}">
                <a16:creationId xmlns:a16="http://schemas.microsoft.com/office/drawing/2014/main" id="{0CC9631C-D156-2144-7FF2-375113611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5674" y="2719990"/>
            <a:ext cx="914400" cy="914400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DCD7F078-C4F7-9B71-18EB-5F33FE9470DC}"/>
              </a:ext>
            </a:extLst>
          </p:cNvPr>
          <p:cNvSpPr/>
          <p:nvPr/>
        </p:nvSpPr>
        <p:spPr>
          <a:xfrm>
            <a:off x="5009841" y="2401962"/>
            <a:ext cx="1543664" cy="1393723"/>
          </a:xfrm>
          <a:prstGeom prst="ellipse">
            <a:avLst/>
          </a:prstGeom>
          <a:solidFill>
            <a:srgbClr val="F08F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Grinning face with solid fill with solid fill">
            <a:extLst>
              <a:ext uri="{FF2B5EF4-FFF2-40B4-BE49-F238E27FC236}">
                <a16:creationId xmlns:a16="http://schemas.microsoft.com/office/drawing/2014/main" id="{089B1D7F-C26E-A129-5264-BD350E336D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5904" y="2641623"/>
            <a:ext cx="914400" cy="914400"/>
          </a:xfrm>
          <a:prstGeom prst="rect">
            <a:avLst/>
          </a:prstGeom>
        </p:spPr>
      </p:pic>
      <p:pic>
        <p:nvPicPr>
          <p:cNvPr id="47" name="Graphic 46" descr="Body builder with solid fill">
            <a:extLst>
              <a:ext uri="{FF2B5EF4-FFF2-40B4-BE49-F238E27FC236}">
                <a16:creationId xmlns:a16="http://schemas.microsoft.com/office/drawing/2014/main" id="{E7E1FDE8-2A6F-AAF9-2455-EDB979F163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17392" y="2651562"/>
            <a:ext cx="914400" cy="914400"/>
          </a:xfrm>
          <a:prstGeom prst="rect">
            <a:avLst/>
          </a:prstGeom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BBF73AA1-681B-B789-3CBC-D751448EC99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4890688" y="287641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3;p14" descr="image.png">
            <a:extLst>
              <a:ext uri="{FF2B5EF4-FFF2-40B4-BE49-F238E27FC236}">
                <a16:creationId xmlns:a16="http://schemas.microsoft.com/office/drawing/2014/main" id="{BDB6BCF0-9F29-9B20-F80A-6E4CA9A8A72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5153" y="287642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 descr="Medical with solid fill">
            <a:extLst>
              <a:ext uri="{FF2B5EF4-FFF2-40B4-BE49-F238E27FC236}">
                <a16:creationId xmlns:a16="http://schemas.microsoft.com/office/drawing/2014/main" id="{A3B582AE-BEAE-2E4E-7474-0F52047754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66655" y="320038"/>
            <a:ext cx="583620" cy="58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8F02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49611" y="0"/>
            <a:ext cx="14613668" cy="693124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685545" y="3657675"/>
            <a:ext cx="5038725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Development and ops tooling </a:t>
            </a:r>
            <a:r>
              <a:rPr lang="en-US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included Git/GitHub </a:t>
            </a: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for source control </a:t>
            </a:r>
            <a:r>
              <a:rPr lang="en-US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and CI/CD (GitHub Actions), VS Code for </a:t>
            </a: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development</a:t>
            </a:r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.</a:t>
            </a:r>
            <a:endParaRPr lang="en-US" b="0" i="0" dirty="0">
              <a:solidFill>
                <a:schemeClr val="bg1"/>
              </a:solidFill>
              <a:effectLst/>
              <a:latin typeface="DM Sans Medium" pitchFamily="2" charset="0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i="0" dirty="0">
              <a:solidFill>
                <a:schemeClr val="bg1"/>
              </a:solidFill>
              <a:effectLst/>
              <a:latin typeface="DM Sans Medium" pitchFamily="2" charset="0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DM Sans Medium" pitchFamily="2" charset="0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We used </a:t>
            </a:r>
            <a:r>
              <a:rPr lang="en-US" dirty="0">
                <a:solidFill>
                  <a:srgbClr val="F08F02"/>
                </a:solidFill>
                <a:latin typeface="DM Sans Medium" pitchFamily="2" charset="0"/>
              </a:rPr>
              <a:t>Discord</a:t>
            </a:r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 and </a:t>
            </a:r>
            <a:r>
              <a:rPr lang="en-US" dirty="0">
                <a:solidFill>
                  <a:srgbClr val="F08F02"/>
                </a:solidFill>
                <a:latin typeface="DM Sans Medium" pitchFamily="2" charset="0"/>
              </a:rPr>
              <a:t>Microsoft Teams </a:t>
            </a:r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to connect with each other to plan and execute accordingly.</a:t>
            </a:r>
            <a:endParaRPr dirty="0">
              <a:solidFill>
                <a:schemeClr val="bg1"/>
              </a:solidFill>
              <a:latin typeface="DM Sans Medium" pitchFamily="2" charset="0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85545" y="1940423"/>
            <a:ext cx="5950441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This project uses a modern </a:t>
            </a:r>
            <a:r>
              <a:rPr lang="en-US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web-stack with a React + Vite </a:t>
            </a: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frontend for a fast, </a:t>
            </a:r>
            <a:r>
              <a:rPr lang="en-US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component-driven UI </a:t>
            </a: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and. The backend is implemented in </a:t>
            </a:r>
            <a:r>
              <a:rPr lang="en-US" b="0" i="0" dirty="0" err="1">
                <a:solidFill>
                  <a:srgbClr val="F08F02"/>
                </a:solidFill>
                <a:effectLst/>
                <a:latin typeface="DM Sans Medium" pitchFamily="2" charset="0"/>
              </a:rPr>
              <a:t>FastAPI</a:t>
            </a:r>
            <a:r>
              <a:rPr lang="en-US" b="0" i="0" dirty="0">
                <a:solidFill>
                  <a:srgbClr val="F08F02"/>
                </a:solidFill>
                <a:effectLst/>
                <a:latin typeface="DM Sans Medium" pitchFamily="2" charset="0"/>
              </a:rPr>
              <a:t> (Python) </a:t>
            </a:r>
            <a:r>
              <a:rPr lang="en-US" b="0" i="0" dirty="0">
                <a:solidFill>
                  <a:schemeClr val="bg1"/>
                </a:solidFill>
                <a:effectLst/>
                <a:latin typeface="DM Sans Medium" pitchFamily="2" charset="0"/>
              </a:rPr>
              <a:t>for the backend.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962025" y="771525"/>
            <a:ext cx="31337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What Was Used </a:t>
            </a:r>
            <a:endParaRPr dirty="0"/>
          </a:p>
        </p:txBody>
      </p:sp>
      <p:sp>
        <p:nvSpPr>
          <p:cNvPr id="137" name="Google Shape;137;p17"/>
          <p:cNvSpPr/>
          <p:nvPr/>
        </p:nvSpPr>
        <p:spPr>
          <a:xfrm>
            <a:off x="771525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raphic 17" descr="Atom with solid fill">
            <a:extLst>
              <a:ext uri="{FF2B5EF4-FFF2-40B4-BE49-F238E27FC236}">
                <a16:creationId xmlns:a16="http://schemas.microsoft.com/office/drawing/2014/main" id="{0B502B51-40EB-D679-47F0-B0A105996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7432" y="1842772"/>
            <a:ext cx="1411079" cy="1411079"/>
          </a:xfrm>
          <a:prstGeom prst="rect">
            <a:avLst/>
          </a:prstGeom>
        </p:spPr>
      </p:pic>
      <p:pic>
        <p:nvPicPr>
          <p:cNvPr id="21" name="Google Shape;117;p16" descr="image.png">
            <a:extLst>
              <a:ext uri="{FF2B5EF4-FFF2-40B4-BE49-F238E27FC236}">
                <a16:creationId xmlns:a16="http://schemas.microsoft.com/office/drawing/2014/main" id="{B4499E1D-9038-DAB8-83AB-0CDE638AF1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0581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20;p16">
            <a:extLst>
              <a:ext uri="{FF2B5EF4-FFF2-40B4-BE49-F238E27FC236}">
                <a16:creationId xmlns:a16="http://schemas.microsoft.com/office/drawing/2014/main" id="{FD1E0247-60E8-28F3-7E93-FD81907043E6}"/>
              </a:ext>
            </a:extLst>
          </p:cNvPr>
          <p:cNvSpPr txBox="1"/>
          <p:nvPr/>
        </p:nvSpPr>
        <p:spPr>
          <a:xfrm>
            <a:off x="13420311" y="1608898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Problems</a:t>
            </a:r>
            <a:endParaRPr dirty="0"/>
          </a:p>
        </p:txBody>
      </p:sp>
      <p:sp>
        <p:nvSpPr>
          <p:cNvPr id="23" name="Google Shape;124;p16">
            <a:extLst>
              <a:ext uri="{FF2B5EF4-FFF2-40B4-BE49-F238E27FC236}">
                <a16:creationId xmlns:a16="http://schemas.microsoft.com/office/drawing/2014/main" id="{F07D6A0E-3B59-5BC3-1146-E0B4AC8256B8}"/>
              </a:ext>
            </a:extLst>
          </p:cNvPr>
          <p:cNvSpPr txBox="1"/>
          <p:nvPr/>
        </p:nvSpPr>
        <p:spPr>
          <a:xfrm>
            <a:off x="13563089" y="771525"/>
            <a:ext cx="1098137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Problems Faced And Solutions Found</a:t>
            </a:r>
            <a:endParaRPr dirty="0"/>
          </a:p>
        </p:txBody>
      </p:sp>
      <p:sp>
        <p:nvSpPr>
          <p:cNvPr id="24" name="Google Shape;125;p16">
            <a:extLst>
              <a:ext uri="{FF2B5EF4-FFF2-40B4-BE49-F238E27FC236}">
                <a16:creationId xmlns:a16="http://schemas.microsoft.com/office/drawing/2014/main" id="{358D7E09-C660-F700-ED2B-27E932C717FD}"/>
              </a:ext>
            </a:extLst>
          </p:cNvPr>
          <p:cNvSpPr/>
          <p:nvPr/>
        </p:nvSpPr>
        <p:spPr>
          <a:xfrm>
            <a:off x="13372589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20;p16">
            <a:extLst>
              <a:ext uri="{FF2B5EF4-FFF2-40B4-BE49-F238E27FC236}">
                <a16:creationId xmlns:a16="http://schemas.microsoft.com/office/drawing/2014/main" id="{5B674D0B-FD26-E908-EA1A-91CF14F7751E}"/>
              </a:ext>
            </a:extLst>
          </p:cNvPr>
          <p:cNvSpPr txBox="1"/>
          <p:nvPr/>
        </p:nvSpPr>
        <p:spPr>
          <a:xfrm>
            <a:off x="19232731" y="1565773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Solutions </a:t>
            </a:r>
            <a:endParaRPr dirty="0"/>
          </a:p>
        </p:txBody>
      </p:sp>
      <p:pic>
        <p:nvPicPr>
          <p:cNvPr id="26" name="Google Shape;118;p16" descr="image.png">
            <a:extLst>
              <a:ext uri="{FF2B5EF4-FFF2-40B4-BE49-F238E27FC236}">
                <a16:creationId xmlns:a16="http://schemas.microsoft.com/office/drawing/2014/main" id="{9F8A7715-DB6B-4ABB-3761-0508AB65C4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53021" y="2026832"/>
            <a:ext cx="4206615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18;p16" descr="image.png">
            <a:extLst>
              <a:ext uri="{FF2B5EF4-FFF2-40B4-BE49-F238E27FC236}">
                <a16:creationId xmlns:a16="http://schemas.microsoft.com/office/drawing/2014/main" id="{9870B6C7-E05F-B886-10BC-0BCFF7CE62F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50579" y="3560397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18;p16" descr="image.png">
            <a:extLst>
              <a:ext uri="{FF2B5EF4-FFF2-40B4-BE49-F238E27FC236}">
                <a16:creationId xmlns:a16="http://schemas.microsoft.com/office/drawing/2014/main" id="{BB12C2C3-4FA8-5A33-7F92-4AF618D1DBF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50579" y="5209198"/>
            <a:ext cx="4206614" cy="129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6E258377-A7AF-9006-BA3D-BBF32C81A2A3}"/>
              </a:ext>
            </a:extLst>
          </p:cNvPr>
          <p:cNvSpPr/>
          <p:nvPr/>
        </p:nvSpPr>
        <p:spPr>
          <a:xfrm>
            <a:off x="17217181" y="3560397"/>
            <a:ext cx="2523281" cy="129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Google Shape;118;p16" descr="image.png">
            <a:extLst>
              <a:ext uri="{FF2B5EF4-FFF2-40B4-BE49-F238E27FC236}">
                <a16:creationId xmlns:a16="http://schemas.microsoft.com/office/drawing/2014/main" id="{C20ED773-6021-AA26-B783-F4325D5805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01479" y="1998276"/>
            <a:ext cx="4206615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18;p16" descr="image.png">
            <a:extLst>
              <a:ext uri="{FF2B5EF4-FFF2-40B4-BE49-F238E27FC236}">
                <a16:creationId xmlns:a16="http://schemas.microsoft.com/office/drawing/2014/main" id="{8BD54699-0AFD-F721-82B0-8D9DB598D9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01480" y="3715901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18;p16" descr="image.png">
            <a:extLst>
              <a:ext uri="{FF2B5EF4-FFF2-40B4-BE49-F238E27FC236}">
                <a16:creationId xmlns:a16="http://schemas.microsoft.com/office/drawing/2014/main" id="{5FF2DB30-97A3-D5FC-AFD6-4F3DE673867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801480" y="5294289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Figma">
            <a:extLst>
              <a:ext uri="{FF2B5EF4-FFF2-40B4-BE49-F238E27FC236}">
                <a16:creationId xmlns:a16="http://schemas.microsoft.com/office/drawing/2014/main" id="{2A8E9320-2E31-6013-1D3C-F8D43510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150" y="1885897"/>
            <a:ext cx="1421501" cy="141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3D126472-4989-847D-EEA6-4BE875D9616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60097" y="696782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3;p14" descr="image.png">
            <a:extLst>
              <a:ext uri="{FF2B5EF4-FFF2-40B4-BE49-F238E27FC236}">
                <a16:creationId xmlns:a16="http://schemas.microsoft.com/office/drawing/2014/main" id="{901FDF1F-B720-114F-9F41-2A6B4E2DF91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>
            <a:off x="4229100" y="705202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 descr="Medical with solid fill">
            <a:extLst>
              <a:ext uri="{FF2B5EF4-FFF2-40B4-BE49-F238E27FC236}">
                <a16:creationId xmlns:a16="http://schemas.microsoft.com/office/drawing/2014/main" id="{C0A6A3B5-BBB3-B22C-0751-F11001BB1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36238" y="723432"/>
            <a:ext cx="583620" cy="583620"/>
          </a:xfrm>
          <a:prstGeom prst="rect">
            <a:avLst/>
          </a:prstGeom>
        </p:spPr>
      </p:pic>
      <p:pic>
        <p:nvPicPr>
          <p:cNvPr id="7170" name="Picture 2" descr="Visual Studio Code Show Console - VCOG">
            <a:extLst>
              <a:ext uri="{FF2B5EF4-FFF2-40B4-BE49-F238E27FC236}">
                <a16:creationId xmlns:a16="http://schemas.microsoft.com/office/drawing/2014/main" id="{6167E700-B9BA-6030-B4AB-56F758D0E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354" y="3373234"/>
            <a:ext cx="2382335" cy="133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itHub Docs">
            <a:extLst>
              <a:ext uri="{FF2B5EF4-FFF2-40B4-BE49-F238E27FC236}">
                <a16:creationId xmlns:a16="http://schemas.microsoft.com/office/drawing/2014/main" id="{CDE168B1-37EA-250A-F08F-AAD8F985F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150" y="3379093"/>
            <a:ext cx="2557328" cy="133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[100+] Fonds d'écran Discord | Wallpapers.com">
            <a:extLst>
              <a:ext uri="{FF2B5EF4-FFF2-40B4-BE49-F238E27FC236}">
                <a16:creationId xmlns:a16="http://schemas.microsoft.com/office/drawing/2014/main" id="{7B75578F-C482-D017-914F-2200071F6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837" y="4921682"/>
            <a:ext cx="1328852" cy="132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Microsoft Teams Logo PNG">
            <a:extLst>
              <a:ext uri="{FF2B5EF4-FFF2-40B4-BE49-F238E27FC236}">
                <a16:creationId xmlns:a16="http://schemas.microsoft.com/office/drawing/2014/main" id="{D15180FD-E934-82B3-1BD1-83FC9315F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150" y="4921682"/>
            <a:ext cx="1380156" cy="128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84A55950-488D-87C5-0224-D6364E2C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>
            <a:extLst>
              <a:ext uri="{FF2B5EF4-FFF2-40B4-BE49-F238E27FC236}">
                <a16:creationId xmlns:a16="http://schemas.microsoft.com/office/drawing/2014/main" id="{E13F57C4-7E06-A733-08AF-3030BB4D4D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0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>
            <a:extLst>
              <a:ext uri="{FF2B5EF4-FFF2-40B4-BE49-F238E27FC236}">
                <a16:creationId xmlns:a16="http://schemas.microsoft.com/office/drawing/2014/main" id="{321ADDB4-51B2-5E48-AEB9-17451E3C9B7D}"/>
              </a:ext>
            </a:extLst>
          </p:cNvPr>
          <p:cNvSpPr txBox="1"/>
          <p:nvPr/>
        </p:nvSpPr>
        <p:spPr>
          <a:xfrm>
            <a:off x="822479" y="1704272"/>
            <a:ext cx="50387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2"/>
                </a:solidFill>
                <a:latin typeface="DM Sans Medium" pitchFamily="2" charset="0"/>
              </a:rPr>
              <a:t>This architecture represents a full-stack application centered around a </a:t>
            </a:r>
            <a:r>
              <a:rPr lang="en-US" b="1" dirty="0" err="1">
                <a:solidFill>
                  <a:srgbClr val="F08F02"/>
                </a:solidFill>
                <a:latin typeface="DM Sans Medium" pitchFamily="2" charset="0"/>
              </a:rPr>
              <a:t>FastAPI</a:t>
            </a:r>
            <a:r>
              <a:rPr lang="en-US" b="1" dirty="0">
                <a:solidFill>
                  <a:srgbClr val="F08F02"/>
                </a:solidFill>
                <a:latin typeface="DM Sans Medium" pitchFamily="2" charset="0"/>
              </a:rPr>
              <a:t> backend</a:t>
            </a:r>
            <a:r>
              <a:rPr lang="en-US" dirty="0">
                <a:solidFill>
                  <a:srgbClr val="F08F02"/>
                </a:solidFill>
                <a:latin typeface="DM Sans Medium" pitchFamily="2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DM Sans Medium" pitchFamily="2" charset="0"/>
              </a:rPr>
              <a:t>and </a:t>
            </a:r>
            <a:r>
              <a:rPr lang="en-US" dirty="0">
                <a:solidFill>
                  <a:srgbClr val="F08F02"/>
                </a:solidFill>
                <a:latin typeface="DM Sans Medium" pitchFamily="2" charset="0"/>
              </a:rPr>
              <a:t>a </a:t>
            </a:r>
            <a:r>
              <a:rPr lang="en-US" b="1" dirty="0">
                <a:solidFill>
                  <a:srgbClr val="F08F02"/>
                </a:solidFill>
                <a:latin typeface="DM Sans Medium" pitchFamily="2" charset="0"/>
              </a:rPr>
              <a:t>React frontend</a:t>
            </a:r>
            <a:r>
              <a:rPr lang="en-US" dirty="0">
                <a:solidFill>
                  <a:schemeClr val="tx2"/>
                </a:solidFill>
                <a:latin typeface="DM Sans Medium" pitchFamily="2" charset="0"/>
              </a:rPr>
              <a:t>, </a:t>
            </a:r>
            <a:endParaRPr dirty="0">
              <a:solidFill>
                <a:schemeClr val="tx2"/>
              </a:solidFill>
              <a:latin typeface="DM Sans Medium" pitchFamily="2" charset="0"/>
            </a:endParaRPr>
          </a:p>
        </p:txBody>
      </p:sp>
      <p:sp>
        <p:nvSpPr>
          <p:cNvPr id="136" name="Google Shape;136;p17">
            <a:extLst>
              <a:ext uri="{FF2B5EF4-FFF2-40B4-BE49-F238E27FC236}">
                <a16:creationId xmlns:a16="http://schemas.microsoft.com/office/drawing/2014/main" id="{DD521E62-083F-9625-3FA5-512517171657}"/>
              </a:ext>
            </a:extLst>
          </p:cNvPr>
          <p:cNvSpPr txBox="1"/>
          <p:nvPr/>
        </p:nvSpPr>
        <p:spPr>
          <a:xfrm>
            <a:off x="962025" y="771525"/>
            <a:ext cx="4267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Architecture Diagram </a:t>
            </a:r>
            <a:endParaRPr dirty="0"/>
          </a:p>
        </p:txBody>
      </p:sp>
      <p:sp>
        <p:nvSpPr>
          <p:cNvPr id="137" name="Google Shape;137;p17">
            <a:extLst>
              <a:ext uri="{FF2B5EF4-FFF2-40B4-BE49-F238E27FC236}">
                <a16:creationId xmlns:a16="http://schemas.microsoft.com/office/drawing/2014/main" id="{F8341E9B-3D1B-C25B-67D0-4168A891C175}"/>
              </a:ext>
            </a:extLst>
          </p:cNvPr>
          <p:cNvSpPr/>
          <p:nvPr/>
        </p:nvSpPr>
        <p:spPr>
          <a:xfrm>
            <a:off x="771525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117;p16" descr="image.png">
            <a:extLst>
              <a:ext uri="{FF2B5EF4-FFF2-40B4-BE49-F238E27FC236}">
                <a16:creationId xmlns:a16="http://schemas.microsoft.com/office/drawing/2014/main" id="{C1D58B29-47D0-AF5E-1A3D-326E8A372E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0581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20;p16">
            <a:extLst>
              <a:ext uri="{FF2B5EF4-FFF2-40B4-BE49-F238E27FC236}">
                <a16:creationId xmlns:a16="http://schemas.microsoft.com/office/drawing/2014/main" id="{F17B23AF-CF8A-8618-88AD-561F1C585966}"/>
              </a:ext>
            </a:extLst>
          </p:cNvPr>
          <p:cNvSpPr txBox="1"/>
          <p:nvPr/>
        </p:nvSpPr>
        <p:spPr>
          <a:xfrm>
            <a:off x="13420311" y="1608898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Problems</a:t>
            </a:r>
            <a:endParaRPr dirty="0"/>
          </a:p>
        </p:txBody>
      </p:sp>
      <p:sp>
        <p:nvSpPr>
          <p:cNvPr id="23" name="Google Shape;124;p16">
            <a:extLst>
              <a:ext uri="{FF2B5EF4-FFF2-40B4-BE49-F238E27FC236}">
                <a16:creationId xmlns:a16="http://schemas.microsoft.com/office/drawing/2014/main" id="{8F37427B-0775-9D70-4A4E-B302D3783C46}"/>
              </a:ext>
            </a:extLst>
          </p:cNvPr>
          <p:cNvSpPr txBox="1"/>
          <p:nvPr/>
        </p:nvSpPr>
        <p:spPr>
          <a:xfrm>
            <a:off x="13563089" y="771525"/>
            <a:ext cx="1098137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Problems Faced And Solutions Found</a:t>
            </a:r>
            <a:endParaRPr dirty="0"/>
          </a:p>
        </p:txBody>
      </p:sp>
      <p:sp>
        <p:nvSpPr>
          <p:cNvPr id="24" name="Google Shape;125;p16">
            <a:extLst>
              <a:ext uri="{FF2B5EF4-FFF2-40B4-BE49-F238E27FC236}">
                <a16:creationId xmlns:a16="http://schemas.microsoft.com/office/drawing/2014/main" id="{AD396F5A-AF81-A46E-0F7D-41F40FCB44B6}"/>
              </a:ext>
            </a:extLst>
          </p:cNvPr>
          <p:cNvSpPr/>
          <p:nvPr/>
        </p:nvSpPr>
        <p:spPr>
          <a:xfrm>
            <a:off x="13372589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20;p16">
            <a:extLst>
              <a:ext uri="{FF2B5EF4-FFF2-40B4-BE49-F238E27FC236}">
                <a16:creationId xmlns:a16="http://schemas.microsoft.com/office/drawing/2014/main" id="{A7998EF5-0D39-D1ED-24D3-5F88AB8FC262}"/>
              </a:ext>
            </a:extLst>
          </p:cNvPr>
          <p:cNvSpPr txBox="1"/>
          <p:nvPr/>
        </p:nvSpPr>
        <p:spPr>
          <a:xfrm>
            <a:off x="19232731" y="1565773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Solutions </a:t>
            </a:r>
            <a:endParaRPr dirty="0"/>
          </a:p>
        </p:txBody>
      </p:sp>
      <p:pic>
        <p:nvPicPr>
          <p:cNvPr id="26" name="Google Shape;118;p16" descr="image.png">
            <a:extLst>
              <a:ext uri="{FF2B5EF4-FFF2-40B4-BE49-F238E27FC236}">
                <a16:creationId xmlns:a16="http://schemas.microsoft.com/office/drawing/2014/main" id="{49C96C27-380F-C965-9592-6BCDB81649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53021" y="2026832"/>
            <a:ext cx="4206615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18;p16" descr="image.png">
            <a:extLst>
              <a:ext uri="{FF2B5EF4-FFF2-40B4-BE49-F238E27FC236}">
                <a16:creationId xmlns:a16="http://schemas.microsoft.com/office/drawing/2014/main" id="{7F5A57E8-9E15-748C-9CC6-06A04E2E48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50579" y="3560397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18;p16" descr="image.png">
            <a:extLst>
              <a:ext uri="{FF2B5EF4-FFF2-40B4-BE49-F238E27FC236}">
                <a16:creationId xmlns:a16="http://schemas.microsoft.com/office/drawing/2014/main" id="{6C46C6A6-0939-76A1-F584-60FF15ECD3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50579" y="5209198"/>
            <a:ext cx="4206614" cy="129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34182657-E8C7-CD1D-44FA-6F0B3F06C93B}"/>
              </a:ext>
            </a:extLst>
          </p:cNvPr>
          <p:cNvSpPr/>
          <p:nvPr/>
        </p:nvSpPr>
        <p:spPr>
          <a:xfrm>
            <a:off x="17217181" y="3560397"/>
            <a:ext cx="2523281" cy="129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Google Shape;118;p16" descr="image.png">
            <a:extLst>
              <a:ext uri="{FF2B5EF4-FFF2-40B4-BE49-F238E27FC236}">
                <a16:creationId xmlns:a16="http://schemas.microsoft.com/office/drawing/2014/main" id="{C1927856-D8E0-F225-9F2F-90425B9B71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479" y="1998276"/>
            <a:ext cx="4206615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18;p16" descr="image.png">
            <a:extLst>
              <a:ext uri="{FF2B5EF4-FFF2-40B4-BE49-F238E27FC236}">
                <a16:creationId xmlns:a16="http://schemas.microsoft.com/office/drawing/2014/main" id="{B015E900-C774-4658-1071-ABA5B01B51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480" y="3715901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18;p16" descr="image.png">
            <a:extLst>
              <a:ext uri="{FF2B5EF4-FFF2-40B4-BE49-F238E27FC236}">
                <a16:creationId xmlns:a16="http://schemas.microsoft.com/office/drawing/2014/main" id="{6C07179F-0F0B-7E61-5BDF-812909F8A0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480" y="5294289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8F4DC9-C8B9-6534-E5F0-A73C7918D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44" y="2672405"/>
            <a:ext cx="5552430" cy="3906882"/>
          </a:xfrm>
          <a:prstGeom prst="rect">
            <a:avLst/>
          </a:prstGeom>
        </p:spPr>
      </p:pic>
      <p:sp>
        <p:nvSpPr>
          <p:cNvPr id="4" name="Google Shape;134;p17">
            <a:extLst>
              <a:ext uri="{FF2B5EF4-FFF2-40B4-BE49-F238E27FC236}">
                <a16:creationId xmlns:a16="http://schemas.microsoft.com/office/drawing/2014/main" id="{2B3EBE4B-DDD4-EEFB-5728-DBDAB390A88F}"/>
              </a:ext>
            </a:extLst>
          </p:cNvPr>
          <p:cNvSpPr txBox="1"/>
          <p:nvPr/>
        </p:nvSpPr>
        <p:spPr>
          <a:xfrm>
            <a:off x="7063951" y="3078297"/>
            <a:ext cx="5038725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</a:pPr>
            <a:r>
              <a:rPr lang="en-US" sz="1800" dirty="0">
                <a:solidFill>
                  <a:schemeClr val="bg1"/>
                </a:solidFill>
                <a:latin typeface="DM Sans Medium" pitchFamily="2" charset="0"/>
              </a:rPr>
              <a:t>                      </a:t>
            </a:r>
            <a:r>
              <a:rPr lang="en-US" sz="1800" dirty="0">
                <a:solidFill>
                  <a:srgbClr val="F08F02"/>
                </a:solidFill>
                <a:latin typeface="DM Sans Medium" pitchFamily="2" charset="0"/>
              </a:rPr>
              <a:t>Things To Note 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DM Sans Medium" pitchFamily="2" charset="0"/>
              </a:rPr>
              <a:t>Frontend to Backend Communication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</a:pPr>
            <a:endParaRPr lang="en-US" sz="1800" dirty="0">
              <a:solidFill>
                <a:schemeClr val="bg1"/>
              </a:solidFill>
              <a:latin typeface="DM Sans Medium" pitchFamily="2" charset="0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DM Sans Medium" pitchFamily="2" charset="0"/>
              </a:rPr>
              <a:t>Core Backend Responsibilities (</a:t>
            </a:r>
            <a:r>
              <a:rPr lang="en-US" sz="1800" dirty="0" err="1">
                <a:solidFill>
                  <a:schemeClr val="bg1"/>
                </a:solidFill>
                <a:latin typeface="DM Sans Medium" pitchFamily="2" charset="0"/>
              </a:rPr>
              <a:t>FastAPI</a:t>
            </a:r>
            <a:r>
              <a:rPr lang="en-US" sz="1800" dirty="0">
                <a:solidFill>
                  <a:schemeClr val="bg1"/>
                </a:solidFill>
                <a:latin typeface="DM Sans Medium" pitchFamily="2" charset="0"/>
              </a:rPr>
              <a:t>)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</a:pPr>
            <a:endParaRPr lang="en-US" sz="1800" dirty="0">
              <a:solidFill>
                <a:schemeClr val="tx2"/>
              </a:solidFill>
              <a:latin typeface="DM Sans Medium" pitchFamily="2" charset="0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DM Sans Medium" pitchFamily="2" charset="0"/>
              </a:rPr>
              <a:t>Infrastructure &amp; Provisioning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DM Sans Medium" pitchFamily="2" charset="0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</a:pPr>
            <a:endParaRPr lang="en-US" sz="1800" dirty="0">
              <a:solidFill>
                <a:schemeClr val="tx2"/>
              </a:solidFill>
              <a:latin typeface="DM Sans Medium" pitchFamily="2" charset="0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</a:pPr>
            <a:endParaRPr lang="en-US" sz="1800" dirty="0">
              <a:solidFill>
                <a:schemeClr val="tx2"/>
              </a:solidFill>
              <a:latin typeface="DM Sans Medium" pitchFamily="2" charset="0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8F02"/>
              </a:buClr>
              <a:buFont typeface="Arial" panose="020B0604020202020204" pitchFamily="34" charset="0"/>
              <a:buChar char="•"/>
            </a:pPr>
            <a:endParaRPr sz="1800" dirty="0">
              <a:solidFill>
                <a:schemeClr val="tx2"/>
              </a:solidFill>
              <a:latin typeface="DM Sans Medium" pitchFamily="2" charset="0"/>
            </a:endParaRPr>
          </a:p>
        </p:txBody>
      </p:sp>
      <p:pic>
        <p:nvPicPr>
          <p:cNvPr id="6" name="Google Shape;93;p14" descr="image.png">
            <a:extLst>
              <a:ext uri="{FF2B5EF4-FFF2-40B4-BE49-F238E27FC236}">
                <a16:creationId xmlns:a16="http://schemas.microsoft.com/office/drawing/2014/main" id="{D253D374-6B49-E505-7349-1173DED49E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5128048" y="683491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 descr="Medical with solid fill">
            <a:extLst>
              <a:ext uri="{FF2B5EF4-FFF2-40B4-BE49-F238E27FC236}">
                <a16:creationId xmlns:a16="http://schemas.microsoft.com/office/drawing/2014/main" id="{6EFEAEAA-7C13-6AB0-41AC-5CBE969B8E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1289" y="734105"/>
            <a:ext cx="583620" cy="58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62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95100A-4D5E-4B19-C280-41A8EFE0C545}"/>
              </a:ext>
            </a:extLst>
          </p:cNvPr>
          <p:cNvSpPr/>
          <p:nvPr/>
        </p:nvSpPr>
        <p:spPr>
          <a:xfrm>
            <a:off x="13435966" y="0"/>
            <a:ext cx="12129136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84423" y="1631785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DM Sans Medium" pitchFamily="2" charset="0"/>
                <a:ea typeface="Urbanist"/>
                <a:cs typeface="Urbanist"/>
                <a:sym typeface="Urbanist"/>
              </a:rPr>
              <a:t>Problems</a:t>
            </a:r>
            <a:endParaRPr dirty="0">
              <a:latin typeface="DM Sans Medium" pitchFamily="2" charset="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44221" y="349475"/>
            <a:ext cx="6834010" cy="485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Problems Faced And Solutions Found</a:t>
            </a:r>
            <a:endParaRPr dirty="0"/>
          </a:p>
        </p:txBody>
      </p:sp>
      <p:sp>
        <p:nvSpPr>
          <p:cNvPr id="125" name="Google Shape;125;p16"/>
          <p:cNvSpPr/>
          <p:nvPr/>
        </p:nvSpPr>
        <p:spPr>
          <a:xfrm>
            <a:off x="228990" y="34947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80BBBE-D252-DAA2-614A-7A1F9FD22957}"/>
              </a:ext>
            </a:extLst>
          </p:cNvPr>
          <p:cNvSpPr/>
          <p:nvPr/>
        </p:nvSpPr>
        <p:spPr>
          <a:xfrm>
            <a:off x="12192000" y="0"/>
            <a:ext cx="1215390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120;p16">
            <a:extLst>
              <a:ext uri="{FF2B5EF4-FFF2-40B4-BE49-F238E27FC236}">
                <a16:creationId xmlns:a16="http://schemas.microsoft.com/office/drawing/2014/main" id="{E0C216D0-640D-A54C-B8B4-45EBA053B225}"/>
              </a:ext>
            </a:extLst>
          </p:cNvPr>
          <p:cNvSpPr txBox="1"/>
          <p:nvPr/>
        </p:nvSpPr>
        <p:spPr>
          <a:xfrm>
            <a:off x="7331555" y="1671576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Solutions </a:t>
            </a:r>
            <a:endParaRPr dirty="0"/>
          </a:p>
        </p:txBody>
      </p:sp>
      <p:pic>
        <p:nvPicPr>
          <p:cNvPr id="19" name="Google Shape;118;p16" descr="image.png">
            <a:extLst>
              <a:ext uri="{FF2B5EF4-FFF2-40B4-BE49-F238E27FC236}">
                <a16:creationId xmlns:a16="http://schemas.microsoft.com/office/drawing/2014/main" id="{7192E032-FC9C-9177-A54F-F2A01F7AD6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7128" y="2227637"/>
            <a:ext cx="4206614" cy="133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18;p16" descr="image.png">
            <a:extLst>
              <a:ext uri="{FF2B5EF4-FFF2-40B4-BE49-F238E27FC236}">
                <a16:creationId xmlns:a16="http://schemas.microsoft.com/office/drawing/2014/main" id="{1CE587C7-4774-7F83-38A4-39899021BB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8231" y="3715900"/>
            <a:ext cx="4264227" cy="142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18;p16" descr="image.png">
            <a:extLst>
              <a:ext uri="{FF2B5EF4-FFF2-40B4-BE49-F238E27FC236}">
                <a16:creationId xmlns:a16="http://schemas.microsoft.com/office/drawing/2014/main" id="{330FD35B-749D-68FA-5227-189C6C2404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9514" y="5294289"/>
            <a:ext cx="4264227" cy="1441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8;p16" descr="image.png">
            <a:extLst>
              <a:ext uri="{FF2B5EF4-FFF2-40B4-BE49-F238E27FC236}">
                <a16:creationId xmlns:a16="http://schemas.microsoft.com/office/drawing/2014/main" id="{4552B3B0-D731-FF5A-1504-9E3F16B1C9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201" y="2175580"/>
            <a:ext cx="4206615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18;p16" descr="image.png">
            <a:extLst>
              <a:ext uri="{FF2B5EF4-FFF2-40B4-BE49-F238E27FC236}">
                <a16:creationId xmlns:a16="http://schemas.microsoft.com/office/drawing/2014/main" id="{35A8E9AC-264C-2538-72AD-145382D461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784" y="3745301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18;p16" descr="image.png">
            <a:extLst>
              <a:ext uri="{FF2B5EF4-FFF2-40B4-BE49-F238E27FC236}">
                <a16:creationId xmlns:a16="http://schemas.microsoft.com/office/drawing/2014/main" id="{16CB0C7B-699A-52F9-B967-EA77E4958D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8202" y="5327686"/>
            <a:ext cx="4206614" cy="129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17;p23" descr="image.png">
            <a:extLst>
              <a:ext uri="{FF2B5EF4-FFF2-40B4-BE49-F238E27FC236}">
                <a16:creationId xmlns:a16="http://schemas.microsoft.com/office/drawing/2014/main" id="{12CD06F4-8F9E-A071-F5A8-A2FD0C51B0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3596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18;p23">
            <a:extLst>
              <a:ext uri="{FF2B5EF4-FFF2-40B4-BE49-F238E27FC236}">
                <a16:creationId xmlns:a16="http://schemas.microsoft.com/office/drawing/2014/main" id="{02C7E633-BBC0-30FA-80A0-A4C4825472E4}"/>
              </a:ext>
            </a:extLst>
          </p:cNvPr>
          <p:cNvSpPr/>
          <p:nvPr/>
        </p:nvSpPr>
        <p:spPr>
          <a:xfrm>
            <a:off x="13827515" y="3197584"/>
            <a:ext cx="11074898" cy="4571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19;p23">
            <a:extLst>
              <a:ext uri="{FF2B5EF4-FFF2-40B4-BE49-F238E27FC236}">
                <a16:creationId xmlns:a16="http://schemas.microsoft.com/office/drawing/2014/main" id="{42EBA727-F037-AE5B-2A03-6432AE39AAC4}"/>
              </a:ext>
            </a:extLst>
          </p:cNvPr>
          <p:cNvSpPr/>
          <p:nvPr/>
        </p:nvSpPr>
        <p:spPr>
          <a:xfrm>
            <a:off x="13835027" y="50426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20;p23">
            <a:extLst>
              <a:ext uri="{FF2B5EF4-FFF2-40B4-BE49-F238E27FC236}">
                <a16:creationId xmlns:a16="http://schemas.microsoft.com/office/drawing/2014/main" id="{9D899E40-A7A4-3F53-EA8B-013B6E85103C}"/>
              </a:ext>
            </a:extLst>
          </p:cNvPr>
          <p:cNvSpPr txBox="1"/>
          <p:nvPr/>
        </p:nvSpPr>
        <p:spPr>
          <a:xfrm>
            <a:off x="14186622" y="5034227"/>
            <a:ext cx="245983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May</a:t>
            </a:r>
            <a:endParaRPr dirty="0"/>
          </a:p>
        </p:txBody>
      </p:sp>
      <p:sp>
        <p:nvSpPr>
          <p:cNvPr id="30" name="Google Shape;221;p23">
            <a:extLst>
              <a:ext uri="{FF2B5EF4-FFF2-40B4-BE49-F238E27FC236}">
                <a16:creationId xmlns:a16="http://schemas.microsoft.com/office/drawing/2014/main" id="{04481CD1-D104-9490-CD7F-93B13613CC80}"/>
              </a:ext>
            </a:extLst>
          </p:cNvPr>
          <p:cNvSpPr txBox="1"/>
          <p:nvPr/>
        </p:nvSpPr>
        <p:spPr>
          <a:xfrm>
            <a:off x="14207491" y="5370332"/>
            <a:ext cx="280505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We First started our internships and Learned about our teammates</a:t>
            </a:r>
            <a:endParaRPr dirty="0"/>
          </a:p>
        </p:txBody>
      </p:sp>
      <p:sp>
        <p:nvSpPr>
          <p:cNvPr id="31" name="Google Shape;222;p23">
            <a:extLst>
              <a:ext uri="{FF2B5EF4-FFF2-40B4-BE49-F238E27FC236}">
                <a16:creationId xmlns:a16="http://schemas.microsoft.com/office/drawing/2014/main" id="{F6DE98EB-3317-D3DC-5E83-C757126651A3}"/>
              </a:ext>
            </a:extLst>
          </p:cNvPr>
          <p:cNvSpPr/>
          <p:nvPr/>
        </p:nvSpPr>
        <p:spPr>
          <a:xfrm>
            <a:off x="14943750" y="23830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23;p23">
            <a:extLst>
              <a:ext uri="{FF2B5EF4-FFF2-40B4-BE49-F238E27FC236}">
                <a16:creationId xmlns:a16="http://schemas.microsoft.com/office/drawing/2014/main" id="{6C0EBFE1-A8CA-39B6-D987-FA5C4B8AB27C}"/>
              </a:ext>
            </a:extLst>
          </p:cNvPr>
          <p:cNvSpPr txBox="1"/>
          <p:nvPr/>
        </p:nvSpPr>
        <p:spPr>
          <a:xfrm>
            <a:off x="15284903" y="2103020"/>
            <a:ext cx="24598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Early June</a:t>
            </a:r>
            <a:endParaRPr dirty="0"/>
          </a:p>
        </p:txBody>
      </p:sp>
      <p:sp>
        <p:nvSpPr>
          <p:cNvPr id="33" name="Google Shape;224;p23">
            <a:extLst>
              <a:ext uri="{FF2B5EF4-FFF2-40B4-BE49-F238E27FC236}">
                <a16:creationId xmlns:a16="http://schemas.microsoft.com/office/drawing/2014/main" id="{39475828-CDC7-93E0-818E-965ECD33FF70}"/>
              </a:ext>
            </a:extLst>
          </p:cNvPr>
          <p:cNvSpPr txBox="1"/>
          <p:nvPr/>
        </p:nvSpPr>
        <p:spPr>
          <a:xfrm>
            <a:off x="15284903" y="2361238"/>
            <a:ext cx="234270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A0A8B8"/>
                </a:solidFill>
                <a:latin typeface="DM Sans"/>
                <a:sym typeface="DM Sans"/>
              </a:rPr>
              <a:t>We made a prototype of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A0A8B8"/>
                </a:solidFill>
                <a:latin typeface="DM Sans"/>
                <a:sym typeface="DM Sans"/>
              </a:rPr>
              <a:t>Our Webapp within Figma </a:t>
            </a:r>
            <a:endParaRPr dirty="0"/>
          </a:p>
        </p:txBody>
      </p:sp>
      <p:sp>
        <p:nvSpPr>
          <p:cNvPr id="34" name="Google Shape;225;p23">
            <a:extLst>
              <a:ext uri="{FF2B5EF4-FFF2-40B4-BE49-F238E27FC236}">
                <a16:creationId xmlns:a16="http://schemas.microsoft.com/office/drawing/2014/main" id="{85E83665-00B2-3BE0-B3DD-60F17A42665B}"/>
              </a:ext>
            </a:extLst>
          </p:cNvPr>
          <p:cNvSpPr/>
          <p:nvPr/>
        </p:nvSpPr>
        <p:spPr>
          <a:xfrm>
            <a:off x="16077169" y="40398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26;p23">
            <a:extLst>
              <a:ext uri="{FF2B5EF4-FFF2-40B4-BE49-F238E27FC236}">
                <a16:creationId xmlns:a16="http://schemas.microsoft.com/office/drawing/2014/main" id="{4BA2E8CC-58E9-1593-F1ED-356D565AE97E}"/>
              </a:ext>
            </a:extLst>
          </p:cNvPr>
          <p:cNvSpPr txBox="1"/>
          <p:nvPr/>
        </p:nvSpPr>
        <p:spPr>
          <a:xfrm>
            <a:off x="16556348" y="3782205"/>
            <a:ext cx="15834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 June –Early July</a:t>
            </a:r>
            <a:endParaRPr dirty="0"/>
          </a:p>
        </p:txBody>
      </p:sp>
      <p:sp>
        <p:nvSpPr>
          <p:cNvPr id="36" name="Google Shape;227;p23">
            <a:extLst>
              <a:ext uri="{FF2B5EF4-FFF2-40B4-BE49-F238E27FC236}">
                <a16:creationId xmlns:a16="http://schemas.microsoft.com/office/drawing/2014/main" id="{80363869-F032-097C-EA7E-235555BA196A}"/>
              </a:ext>
            </a:extLst>
          </p:cNvPr>
          <p:cNvSpPr txBox="1"/>
          <p:nvPr/>
        </p:nvSpPr>
        <p:spPr>
          <a:xfrm>
            <a:off x="16555820" y="4243870"/>
            <a:ext cx="336630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A0A8B8"/>
                </a:solidFill>
                <a:latin typeface="DM Sans"/>
                <a:sym typeface="DM Sans"/>
              </a:rPr>
              <a:t>During This Time We Implemented Upon Our Prototype Using React As our basis </a:t>
            </a:r>
            <a:endParaRPr dirty="0"/>
          </a:p>
        </p:txBody>
      </p:sp>
      <p:sp>
        <p:nvSpPr>
          <p:cNvPr id="37" name="Google Shape;228;p23">
            <a:extLst>
              <a:ext uri="{FF2B5EF4-FFF2-40B4-BE49-F238E27FC236}">
                <a16:creationId xmlns:a16="http://schemas.microsoft.com/office/drawing/2014/main" id="{11462554-FEEF-AFCA-E38E-0C72533DB2B1}"/>
              </a:ext>
            </a:extLst>
          </p:cNvPr>
          <p:cNvSpPr/>
          <p:nvPr/>
        </p:nvSpPr>
        <p:spPr>
          <a:xfrm>
            <a:off x="18678323" y="150442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29;p23">
            <a:extLst>
              <a:ext uri="{FF2B5EF4-FFF2-40B4-BE49-F238E27FC236}">
                <a16:creationId xmlns:a16="http://schemas.microsoft.com/office/drawing/2014/main" id="{21E1A22F-C13F-26DD-A508-E2A6A458823E}"/>
              </a:ext>
            </a:extLst>
          </p:cNvPr>
          <p:cNvSpPr txBox="1"/>
          <p:nvPr/>
        </p:nvSpPr>
        <p:spPr>
          <a:xfrm>
            <a:off x="19080176" y="1452445"/>
            <a:ext cx="24598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Early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July –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 July </a:t>
            </a:r>
            <a:endParaRPr dirty="0"/>
          </a:p>
        </p:txBody>
      </p:sp>
      <p:sp>
        <p:nvSpPr>
          <p:cNvPr id="39" name="Google Shape;230;p23">
            <a:extLst>
              <a:ext uri="{FF2B5EF4-FFF2-40B4-BE49-F238E27FC236}">
                <a16:creationId xmlns:a16="http://schemas.microsoft.com/office/drawing/2014/main" id="{5C3F2154-7781-F5C2-C8C6-B7A699D2EE28}"/>
              </a:ext>
            </a:extLst>
          </p:cNvPr>
          <p:cNvSpPr txBox="1"/>
          <p:nvPr/>
        </p:nvSpPr>
        <p:spPr>
          <a:xfrm>
            <a:off x="19032759" y="1702596"/>
            <a:ext cx="355280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After Implementation we check for any minute bugs or issues that could come up within the presentation </a:t>
            </a:r>
            <a:endParaRPr dirty="0"/>
          </a:p>
        </p:txBody>
      </p:sp>
      <p:sp>
        <p:nvSpPr>
          <p:cNvPr id="40" name="Google Shape;231;p23">
            <a:extLst>
              <a:ext uri="{FF2B5EF4-FFF2-40B4-BE49-F238E27FC236}">
                <a16:creationId xmlns:a16="http://schemas.microsoft.com/office/drawing/2014/main" id="{ED52AD9F-15AC-E9AB-759F-47DB6516DD39}"/>
              </a:ext>
            </a:extLst>
          </p:cNvPr>
          <p:cNvSpPr txBox="1"/>
          <p:nvPr/>
        </p:nvSpPr>
        <p:spPr>
          <a:xfrm>
            <a:off x="14397991" y="77329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LIFESAFE 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ROADMAP</a:t>
            </a:r>
            <a:endParaRPr dirty="0"/>
          </a:p>
        </p:txBody>
      </p:sp>
      <p:sp>
        <p:nvSpPr>
          <p:cNvPr id="41" name="Google Shape;232;p23">
            <a:extLst>
              <a:ext uri="{FF2B5EF4-FFF2-40B4-BE49-F238E27FC236}">
                <a16:creationId xmlns:a16="http://schemas.microsoft.com/office/drawing/2014/main" id="{5634A336-E1E4-A399-CA5E-501C2E3B24B8}"/>
              </a:ext>
            </a:extLst>
          </p:cNvPr>
          <p:cNvSpPr/>
          <p:nvPr/>
        </p:nvSpPr>
        <p:spPr>
          <a:xfrm>
            <a:off x="14207491" y="77329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4131E89-92F8-280A-69B6-307234D3560C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3930277" y="3181852"/>
            <a:ext cx="0" cy="1860833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F1C3163-A107-BBE6-E8FD-3A557A0E6F33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15039000" y="2573550"/>
            <a:ext cx="0" cy="685485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C890FBE-749F-6D8A-84D2-92B87DA82BF1}"/>
              </a:ext>
            </a:extLst>
          </p:cNvPr>
          <p:cNvCxnSpPr>
            <a:cxnSpLocks/>
          </p:cNvCxnSpPr>
          <p:nvPr/>
        </p:nvCxnSpPr>
        <p:spPr>
          <a:xfrm>
            <a:off x="16172419" y="3259035"/>
            <a:ext cx="0" cy="780835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67EEBD8-528F-AA85-5477-5FF29473F638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18773573" y="1694927"/>
            <a:ext cx="0" cy="1542672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E52B00-C20E-4DD5-E735-32C4A80095BD}"/>
              </a:ext>
            </a:extLst>
          </p:cNvPr>
          <p:cNvCxnSpPr>
            <a:cxnSpLocks/>
          </p:cNvCxnSpPr>
          <p:nvPr/>
        </p:nvCxnSpPr>
        <p:spPr>
          <a:xfrm>
            <a:off x="20873669" y="3197584"/>
            <a:ext cx="0" cy="842286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oogle Shape;225;p23">
            <a:extLst>
              <a:ext uri="{FF2B5EF4-FFF2-40B4-BE49-F238E27FC236}">
                <a16:creationId xmlns:a16="http://schemas.microsoft.com/office/drawing/2014/main" id="{C25827D9-950D-D55A-80A7-EBD3B45E7997}"/>
              </a:ext>
            </a:extLst>
          </p:cNvPr>
          <p:cNvSpPr/>
          <p:nvPr/>
        </p:nvSpPr>
        <p:spPr>
          <a:xfrm>
            <a:off x="20778419" y="39192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229;p23">
            <a:extLst>
              <a:ext uri="{FF2B5EF4-FFF2-40B4-BE49-F238E27FC236}">
                <a16:creationId xmlns:a16="http://schemas.microsoft.com/office/drawing/2014/main" id="{8611BD2A-AF94-DA38-3BAE-82DD9A38AFFD}"/>
              </a:ext>
            </a:extLst>
          </p:cNvPr>
          <p:cNvSpPr txBox="1"/>
          <p:nvPr/>
        </p:nvSpPr>
        <p:spPr>
          <a:xfrm>
            <a:off x="21291109" y="3881268"/>
            <a:ext cx="24598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 July – Early August</a:t>
            </a:r>
            <a:endParaRPr lang="en-US" dirty="0"/>
          </a:p>
        </p:txBody>
      </p:sp>
      <p:sp>
        <p:nvSpPr>
          <p:cNvPr id="49" name="Google Shape;230;p23">
            <a:extLst>
              <a:ext uri="{FF2B5EF4-FFF2-40B4-BE49-F238E27FC236}">
                <a16:creationId xmlns:a16="http://schemas.microsoft.com/office/drawing/2014/main" id="{81901E94-6E88-1575-7F97-5388F6C380EE}"/>
              </a:ext>
            </a:extLst>
          </p:cNvPr>
          <p:cNvSpPr txBox="1"/>
          <p:nvPr/>
        </p:nvSpPr>
        <p:spPr>
          <a:xfrm>
            <a:off x="21291109" y="4140739"/>
            <a:ext cx="355280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After Implementation we check for any minute bugs or issues that could come up within the presentation </a:t>
            </a:r>
            <a:endParaRPr dirty="0"/>
          </a:p>
        </p:txBody>
      </p:sp>
      <p:sp>
        <p:nvSpPr>
          <p:cNvPr id="2" name="Google Shape;120;p16">
            <a:extLst>
              <a:ext uri="{FF2B5EF4-FFF2-40B4-BE49-F238E27FC236}">
                <a16:creationId xmlns:a16="http://schemas.microsoft.com/office/drawing/2014/main" id="{F32F785E-F0FF-C692-21FF-05BCD242EA1A}"/>
              </a:ext>
            </a:extLst>
          </p:cNvPr>
          <p:cNvSpPr txBox="1"/>
          <p:nvPr/>
        </p:nvSpPr>
        <p:spPr>
          <a:xfrm>
            <a:off x="484422" y="2254921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DM Sans Medium" pitchFamily="2" charset="0"/>
                <a:ea typeface="Urbanist"/>
                <a:cs typeface="Urbanist"/>
                <a:sym typeface="Urbanist"/>
              </a:rPr>
              <a:t>AI problems</a:t>
            </a:r>
            <a:endParaRPr dirty="0">
              <a:latin typeface="DM Sans Medium" pitchFamily="2" charset="0"/>
            </a:endParaRPr>
          </a:p>
        </p:txBody>
      </p:sp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93C91229-17B1-B8DC-71EA-EDF4CD5E1D3C}"/>
              </a:ext>
            </a:extLst>
          </p:cNvPr>
          <p:cNvSpPr txBox="1"/>
          <p:nvPr/>
        </p:nvSpPr>
        <p:spPr>
          <a:xfrm>
            <a:off x="499516" y="3852062"/>
            <a:ext cx="22441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DM Sans Medium" pitchFamily="2" charset="0"/>
                <a:ea typeface="Urbanist"/>
                <a:cs typeface="Urbanist"/>
                <a:sym typeface="Urbanist"/>
              </a:rPr>
              <a:t>People Difficulties</a:t>
            </a:r>
            <a:endParaRPr dirty="0">
              <a:latin typeface="DM Sans Medium" pitchFamily="2" charset="0"/>
            </a:endParaRPr>
          </a:p>
        </p:txBody>
      </p:sp>
      <p:sp>
        <p:nvSpPr>
          <p:cNvPr id="4" name="Google Shape;120;p16">
            <a:extLst>
              <a:ext uri="{FF2B5EF4-FFF2-40B4-BE49-F238E27FC236}">
                <a16:creationId xmlns:a16="http://schemas.microsoft.com/office/drawing/2014/main" id="{A99F2AE6-601D-453A-7A16-4BF01412F3BD}"/>
              </a:ext>
            </a:extLst>
          </p:cNvPr>
          <p:cNvSpPr txBox="1"/>
          <p:nvPr/>
        </p:nvSpPr>
        <p:spPr>
          <a:xfrm>
            <a:off x="484423" y="5383213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DM Sans Medium" pitchFamily="2" charset="0"/>
                <a:ea typeface="Urbanist"/>
                <a:cs typeface="Urbanist"/>
                <a:sym typeface="Urbanist"/>
              </a:rPr>
              <a:t>Learning Curve</a:t>
            </a:r>
            <a:endParaRPr dirty="0">
              <a:latin typeface="DM Sans Medium" pitchFamily="2" charset="0"/>
            </a:endParaRPr>
          </a:p>
        </p:txBody>
      </p:sp>
      <p:sp>
        <p:nvSpPr>
          <p:cNvPr id="5" name="Google Shape;120;p16">
            <a:extLst>
              <a:ext uri="{FF2B5EF4-FFF2-40B4-BE49-F238E27FC236}">
                <a16:creationId xmlns:a16="http://schemas.microsoft.com/office/drawing/2014/main" id="{D59C3F58-E2D1-98FE-18D1-D6CC11023E4C}"/>
              </a:ext>
            </a:extLst>
          </p:cNvPr>
          <p:cNvSpPr txBox="1"/>
          <p:nvPr/>
        </p:nvSpPr>
        <p:spPr>
          <a:xfrm>
            <a:off x="7435087" y="3782205"/>
            <a:ext cx="267552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Task Management</a:t>
            </a:r>
            <a:endParaRPr dirty="0"/>
          </a:p>
        </p:txBody>
      </p:sp>
      <p:sp>
        <p:nvSpPr>
          <p:cNvPr id="6" name="Google Shape;120;p16">
            <a:extLst>
              <a:ext uri="{FF2B5EF4-FFF2-40B4-BE49-F238E27FC236}">
                <a16:creationId xmlns:a16="http://schemas.microsoft.com/office/drawing/2014/main" id="{9BA66FD0-8867-61A3-E403-69389E3C5554}"/>
              </a:ext>
            </a:extLst>
          </p:cNvPr>
          <p:cNvSpPr txBox="1"/>
          <p:nvPr/>
        </p:nvSpPr>
        <p:spPr>
          <a:xfrm>
            <a:off x="7435087" y="5436037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Off Task Learning</a:t>
            </a:r>
            <a:endParaRPr dirty="0"/>
          </a:p>
        </p:txBody>
      </p:sp>
      <p:sp>
        <p:nvSpPr>
          <p:cNvPr id="7" name="Google Shape;120;p16">
            <a:extLst>
              <a:ext uri="{FF2B5EF4-FFF2-40B4-BE49-F238E27FC236}">
                <a16:creationId xmlns:a16="http://schemas.microsoft.com/office/drawing/2014/main" id="{5E93FFBA-76E5-F94B-32B0-041C98D2D403}"/>
              </a:ext>
            </a:extLst>
          </p:cNvPr>
          <p:cNvSpPr txBox="1"/>
          <p:nvPr/>
        </p:nvSpPr>
        <p:spPr>
          <a:xfrm>
            <a:off x="7476995" y="2300636"/>
            <a:ext cx="18892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Proper Handling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E56BA-4B81-3B7E-AF68-6BA90A2BD19B}"/>
              </a:ext>
            </a:extLst>
          </p:cNvPr>
          <p:cNvSpPr txBox="1"/>
          <p:nvPr/>
        </p:nvSpPr>
        <p:spPr>
          <a:xfrm>
            <a:off x="410914" y="2649217"/>
            <a:ext cx="373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We didn’t know how to build the AI assistant or what to use for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43FB2A-2A5D-28B9-9290-C8C0DE2D2BCA}"/>
              </a:ext>
            </a:extLst>
          </p:cNvPr>
          <p:cNvSpPr txBox="1"/>
          <p:nvPr/>
        </p:nvSpPr>
        <p:spPr>
          <a:xfrm>
            <a:off x="7408223" y="2683501"/>
            <a:ext cx="373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In the end we used GPT 5.5 Nano and used it as our ai therapist using a API key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433CD7-17DD-9355-ABCB-718A7E675B98}"/>
              </a:ext>
            </a:extLst>
          </p:cNvPr>
          <p:cNvSpPr txBox="1"/>
          <p:nvPr/>
        </p:nvSpPr>
        <p:spPr>
          <a:xfrm>
            <a:off x="372399" y="4255504"/>
            <a:ext cx="373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Originally , we were supposed to have six people but had three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69EB2-332A-0F7C-A327-0B9E63418C3C}"/>
              </a:ext>
            </a:extLst>
          </p:cNvPr>
          <p:cNvSpPr txBox="1"/>
          <p:nvPr/>
        </p:nvSpPr>
        <p:spPr>
          <a:xfrm>
            <a:off x="7408223" y="4158225"/>
            <a:ext cx="373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We learned how to properly distribute the weight equally for the tasks received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491BB-A97B-5876-7A1D-64AAB509859B}"/>
              </a:ext>
            </a:extLst>
          </p:cNvPr>
          <p:cNvSpPr txBox="1"/>
          <p:nvPr/>
        </p:nvSpPr>
        <p:spPr>
          <a:xfrm>
            <a:off x="372400" y="5715739"/>
            <a:ext cx="373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For some of the tasks that we wished to do we did not know how 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431E00-C276-6162-C0D5-7E359A3DFE81}"/>
              </a:ext>
            </a:extLst>
          </p:cNvPr>
          <p:cNvSpPr txBox="1"/>
          <p:nvPr/>
        </p:nvSpPr>
        <p:spPr>
          <a:xfrm>
            <a:off x="7399515" y="5869390"/>
            <a:ext cx="373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We learned off of YouTube tutorials to fill in our gaps of knowledge.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8BB3BE8-3926-20B7-40F2-B517B26F0EC8}"/>
              </a:ext>
            </a:extLst>
          </p:cNvPr>
          <p:cNvSpPr/>
          <p:nvPr/>
        </p:nvSpPr>
        <p:spPr>
          <a:xfrm>
            <a:off x="4584795" y="2175579"/>
            <a:ext cx="2755066" cy="129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F6D8C45B-B9CC-C92C-3A46-2A7CBCF31A9A}"/>
              </a:ext>
            </a:extLst>
          </p:cNvPr>
          <p:cNvSpPr/>
          <p:nvPr/>
        </p:nvSpPr>
        <p:spPr>
          <a:xfrm>
            <a:off x="4527760" y="3649452"/>
            <a:ext cx="2755066" cy="129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FD44B768-D1AD-C227-51EF-706EA8BA173F}"/>
              </a:ext>
            </a:extLst>
          </p:cNvPr>
          <p:cNvSpPr/>
          <p:nvPr/>
        </p:nvSpPr>
        <p:spPr>
          <a:xfrm>
            <a:off x="4555594" y="5307791"/>
            <a:ext cx="2755066" cy="1299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3" name="Google Shape;93;p14" descr="image.png">
            <a:extLst>
              <a:ext uri="{FF2B5EF4-FFF2-40B4-BE49-F238E27FC236}">
                <a16:creationId xmlns:a16="http://schemas.microsoft.com/office/drawing/2014/main" id="{BC79E730-2409-09DD-9670-F12074B2983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7476995" y="27524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93;p14" descr="image.png">
            <a:extLst>
              <a:ext uri="{FF2B5EF4-FFF2-40B4-BE49-F238E27FC236}">
                <a16:creationId xmlns:a16="http://schemas.microsoft.com/office/drawing/2014/main" id="{F3BBF3CC-663C-89C1-8DEB-08D6931C21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1555" y="302416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raphic 51" descr="Medical with solid fill">
            <a:extLst>
              <a:ext uri="{FF2B5EF4-FFF2-40B4-BE49-F238E27FC236}">
                <a16:creationId xmlns:a16="http://schemas.microsoft.com/office/drawing/2014/main" id="{28142CFA-D157-FE2C-2430-33DA53E285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9756" y="326676"/>
            <a:ext cx="583620" cy="58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CCC13CA-AF11-1865-E25D-8819F72B9D74}"/>
              </a:ext>
            </a:extLst>
          </p:cNvPr>
          <p:cNvSpPr/>
          <p:nvPr/>
        </p:nvSpPr>
        <p:spPr>
          <a:xfrm>
            <a:off x="12193463" y="-24864"/>
            <a:ext cx="13411745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Google Shape;218;p23"/>
          <p:cNvSpPr/>
          <p:nvPr/>
        </p:nvSpPr>
        <p:spPr>
          <a:xfrm>
            <a:off x="391549" y="3195814"/>
            <a:ext cx="11074898" cy="4571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99061" y="504091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631067" y="5049812"/>
            <a:ext cx="245983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May</a:t>
            </a:r>
            <a:endParaRPr dirty="0"/>
          </a:p>
        </p:txBody>
      </p:sp>
      <p:sp>
        <p:nvSpPr>
          <p:cNvPr id="221" name="Google Shape;221;p23"/>
          <p:cNvSpPr txBox="1"/>
          <p:nvPr/>
        </p:nvSpPr>
        <p:spPr>
          <a:xfrm>
            <a:off x="631067" y="5397104"/>
            <a:ext cx="3943492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We kicked off in May with </a:t>
            </a:r>
            <a:r>
              <a:rPr lang="en-US" dirty="0">
                <a:solidFill>
                  <a:srgbClr val="F08F02"/>
                </a:solidFill>
                <a:latin typeface="DM Sans Medium" pitchFamily="2" charset="0"/>
              </a:rPr>
              <a:t>Prototyping in Figma </a:t>
            </a:r>
            <a:r>
              <a:rPr lang="en-US" dirty="0">
                <a:solidFill>
                  <a:schemeClr val="bg1"/>
                </a:solidFill>
                <a:latin typeface="DM Sans Medium" pitchFamily="2" charset="0"/>
              </a:rPr>
              <a:t>to map out the core mental health experience and how it should look.</a:t>
            </a:r>
            <a:endParaRPr dirty="0">
              <a:solidFill>
                <a:schemeClr val="bg1"/>
              </a:solidFill>
              <a:latin typeface="DM Sans Medium" pitchFamily="2" charset="0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80571" y="16490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1189092" y="1573881"/>
            <a:ext cx="24598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Early June</a:t>
            </a:r>
            <a:endParaRPr dirty="0"/>
          </a:p>
        </p:txBody>
      </p:sp>
      <p:sp>
        <p:nvSpPr>
          <p:cNvPr id="225" name="Google Shape;225;p23"/>
          <p:cNvSpPr/>
          <p:nvPr/>
        </p:nvSpPr>
        <p:spPr>
          <a:xfrm>
            <a:off x="2853974" y="4029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3159994" y="4009043"/>
            <a:ext cx="229801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 June –Early July</a:t>
            </a:r>
            <a:endParaRPr dirty="0"/>
          </a:p>
        </p:txBody>
      </p:sp>
      <p:sp>
        <p:nvSpPr>
          <p:cNvPr id="228" name="Google Shape;228;p23"/>
          <p:cNvSpPr/>
          <p:nvPr/>
        </p:nvSpPr>
        <p:spPr>
          <a:xfrm>
            <a:off x="5242357" y="150265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596790" y="1489790"/>
            <a:ext cx="24598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Early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July –</a:t>
            </a: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 July </a:t>
            </a:r>
            <a:endParaRPr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975821" y="465272"/>
            <a:ext cx="404988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LIFESAFE </a:t>
            </a: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ROADMAP</a:t>
            </a:r>
            <a:endParaRPr dirty="0"/>
          </a:p>
        </p:txBody>
      </p:sp>
      <p:sp>
        <p:nvSpPr>
          <p:cNvPr id="232" name="Google Shape;232;p23"/>
          <p:cNvSpPr/>
          <p:nvPr/>
        </p:nvSpPr>
        <p:spPr>
          <a:xfrm>
            <a:off x="823421" y="436924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951D94-BDD7-53ED-CD0C-98C1444577D6}"/>
              </a:ext>
            </a:extLst>
          </p:cNvPr>
          <p:cNvCxnSpPr>
            <a:cxnSpLocks/>
            <a:endCxn id="219" idx="0"/>
          </p:cNvCxnSpPr>
          <p:nvPr/>
        </p:nvCxnSpPr>
        <p:spPr>
          <a:xfrm>
            <a:off x="494311" y="3257265"/>
            <a:ext cx="0" cy="1783650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24E924-FB81-CA4F-36BB-7537CE963E72}"/>
              </a:ext>
            </a:extLst>
          </p:cNvPr>
          <p:cNvCxnSpPr>
            <a:cxnSpLocks/>
          </p:cNvCxnSpPr>
          <p:nvPr/>
        </p:nvCxnSpPr>
        <p:spPr>
          <a:xfrm flipV="1">
            <a:off x="962025" y="1839568"/>
            <a:ext cx="0" cy="1356246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00A40D-499B-8B98-DC32-8B31A8F1DDC9}"/>
              </a:ext>
            </a:extLst>
          </p:cNvPr>
          <p:cNvCxnSpPr>
            <a:cxnSpLocks/>
            <a:endCxn id="225" idx="0"/>
          </p:cNvCxnSpPr>
          <p:nvPr/>
        </p:nvCxnSpPr>
        <p:spPr>
          <a:xfrm>
            <a:off x="2949224" y="3218673"/>
            <a:ext cx="0" cy="811167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B27AB0-CB28-AA18-1632-E9BAE18BD103}"/>
              </a:ext>
            </a:extLst>
          </p:cNvPr>
          <p:cNvCxnSpPr>
            <a:cxnSpLocks/>
            <a:endCxn id="228" idx="2"/>
          </p:cNvCxnSpPr>
          <p:nvPr/>
        </p:nvCxnSpPr>
        <p:spPr>
          <a:xfrm flipV="1">
            <a:off x="5337607" y="1693157"/>
            <a:ext cx="0" cy="1542672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3939E4-ECCE-8BC0-0674-DE3EB45BB346}"/>
              </a:ext>
            </a:extLst>
          </p:cNvPr>
          <p:cNvCxnSpPr>
            <a:cxnSpLocks/>
          </p:cNvCxnSpPr>
          <p:nvPr/>
        </p:nvCxnSpPr>
        <p:spPr>
          <a:xfrm>
            <a:off x="7527778" y="3257265"/>
            <a:ext cx="0" cy="459671"/>
          </a:xfrm>
          <a:prstGeom prst="line">
            <a:avLst/>
          </a:prstGeom>
          <a:ln>
            <a:solidFill>
              <a:srgbClr val="F08F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oogle Shape;225;p23">
            <a:extLst>
              <a:ext uri="{FF2B5EF4-FFF2-40B4-BE49-F238E27FC236}">
                <a16:creationId xmlns:a16="http://schemas.microsoft.com/office/drawing/2014/main" id="{820166DD-1BA8-502E-4D67-397EE91795CC}"/>
              </a:ext>
            </a:extLst>
          </p:cNvPr>
          <p:cNvSpPr/>
          <p:nvPr/>
        </p:nvSpPr>
        <p:spPr>
          <a:xfrm>
            <a:off x="7432528" y="3672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29;p23">
            <a:extLst>
              <a:ext uri="{FF2B5EF4-FFF2-40B4-BE49-F238E27FC236}">
                <a16:creationId xmlns:a16="http://schemas.microsoft.com/office/drawing/2014/main" id="{8BA0C945-4193-3E5F-E559-036F6DD381A6}"/>
              </a:ext>
            </a:extLst>
          </p:cNvPr>
          <p:cNvSpPr txBox="1"/>
          <p:nvPr/>
        </p:nvSpPr>
        <p:spPr>
          <a:xfrm>
            <a:off x="7827108" y="3644883"/>
            <a:ext cx="24598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 July – Early August</a:t>
            </a:r>
            <a:endParaRPr lang="en-US" dirty="0"/>
          </a:p>
        </p:txBody>
      </p:sp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1F175DB6-A8D8-0971-94A8-4C065D8437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5701" y="406009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3;p14" descr="image.png">
            <a:extLst>
              <a:ext uri="{FF2B5EF4-FFF2-40B4-BE49-F238E27FC236}">
                <a16:creationId xmlns:a16="http://schemas.microsoft.com/office/drawing/2014/main" id="{51C10578-9CE9-39A1-EB13-A3B2522B82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5120951" y="41387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raphic 5" descr="Medical with solid fill">
            <a:extLst>
              <a:ext uri="{FF2B5EF4-FFF2-40B4-BE49-F238E27FC236}">
                <a16:creationId xmlns:a16="http://schemas.microsoft.com/office/drawing/2014/main" id="{349C25FA-3795-C096-1CE4-3C5D08FB1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9712" y="453085"/>
            <a:ext cx="583620" cy="583620"/>
          </a:xfrm>
          <a:prstGeom prst="rect">
            <a:avLst/>
          </a:prstGeom>
        </p:spPr>
      </p:pic>
      <p:pic>
        <p:nvPicPr>
          <p:cNvPr id="30" name="Google Shape;142;p18" descr="image.png">
            <a:extLst>
              <a:ext uri="{FF2B5EF4-FFF2-40B4-BE49-F238E27FC236}">
                <a16:creationId xmlns:a16="http://schemas.microsoft.com/office/drawing/2014/main" id="{989D4761-0F06-769F-56D1-B493C5ABF1D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13208" y="-17173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43;p18" descr="image.png">
            <a:extLst>
              <a:ext uri="{FF2B5EF4-FFF2-40B4-BE49-F238E27FC236}">
                <a16:creationId xmlns:a16="http://schemas.microsoft.com/office/drawing/2014/main" id="{DF4AE992-C92F-6030-6569-CACCC38919D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012399" y="2412652"/>
            <a:ext cx="33590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44;p18" descr="image.png">
            <a:extLst>
              <a:ext uri="{FF2B5EF4-FFF2-40B4-BE49-F238E27FC236}">
                <a16:creationId xmlns:a16="http://schemas.microsoft.com/office/drawing/2014/main" id="{AD7608B2-326B-8EC0-574F-3AAC140D3E2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57199" y="2412652"/>
            <a:ext cx="3359199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145;p18" descr="image.png">
            <a:extLst>
              <a:ext uri="{FF2B5EF4-FFF2-40B4-BE49-F238E27FC236}">
                <a16:creationId xmlns:a16="http://schemas.microsoft.com/office/drawing/2014/main" id="{3836D775-F3AF-B371-DE89-4481C2D2827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302149" y="2412652"/>
            <a:ext cx="33590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46;p18" descr="image.png">
            <a:extLst>
              <a:ext uri="{FF2B5EF4-FFF2-40B4-BE49-F238E27FC236}">
                <a16:creationId xmlns:a16="http://schemas.microsoft.com/office/drawing/2014/main" id="{2A7DE288-8A26-CD10-47A6-6936EED5863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453949" y="2606501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47;p18">
            <a:extLst>
              <a:ext uri="{FF2B5EF4-FFF2-40B4-BE49-F238E27FC236}">
                <a16:creationId xmlns:a16="http://schemas.microsoft.com/office/drawing/2014/main" id="{507E197F-9C32-AD43-B4C6-854D264C6554}"/>
              </a:ext>
            </a:extLst>
          </p:cNvPr>
          <p:cNvSpPr txBox="1"/>
          <p:nvPr/>
        </p:nvSpPr>
        <p:spPr>
          <a:xfrm>
            <a:off x="14328472" y="3381114"/>
            <a:ext cx="272690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Rapid Prototypes</a:t>
            </a:r>
            <a:endParaRPr dirty="0"/>
          </a:p>
        </p:txBody>
      </p:sp>
      <p:sp>
        <p:nvSpPr>
          <p:cNvPr id="36" name="Google Shape;148;p18">
            <a:extLst>
              <a:ext uri="{FF2B5EF4-FFF2-40B4-BE49-F238E27FC236}">
                <a16:creationId xmlns:a16="http://schemas.microsoft.com/office/drawing/2014/main" id="{046C69A4-BEEE-5114-FBD8-C89B60254996}"/>
              </a:ext>
            </a:extLst>
          </p:cNvPr>
          <p:cNvSpPr txBox="1"/>
          <p:nvPr/>
        </p:nvSpPr>
        <p:spPr>
          <a:xfrm>
            <a:off x="14393398" y="3716936"/>
            <a:ext cx="25970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With AI we were given th</a:t>
            </a:r>
            <a:r>
              <a:rPr lang="en-US" sz="1350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e ability to quickly </a:t>
            </a:r>
            <a:r>
              <a:rPr lang="en-US" sz="1350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create sketches</a:t>
            </a:r>
            <a:r>
              <a:rPr lang="en-US" sz="1350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 to get an idea of </a:t>
            </a:r>
            <a:r>
              <a:rPr lang="en-US" sz="1350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what our product should look like.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pic>
        <p:nvPicPr>
          <p:cNvPr id="37" name="Google Shape;149;p18" descr="image.png">
            <a:extLst>
              <a:ext uri="{FF2B5EF4-FFF2-40B4-BE49-F238E27FC236}">
                <a16:creationId xmlns:a16="http://schemas.microsoft.com/office/drawing/2014/main" id="{F026BFB7-D403-BD65-B66F-47CCF25EB70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110387" y="260650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50;p18">
            <a:extLst>
              <a:ext uri="{FF2B5EF4-FFF2-40B4-BE49-F238E27FC236}">
                <a16:creationId xmlns:a16="http://schemas.microsoft.com/office/drawing/2014/main" id="{E5F125FB-3B8D-C690-4E4E-B61F954CEDBA}"/>
              </a:ext>
            </a:extLst>
          </p:cNvPr>
          <p:cNvSpPr txBox="1"/>
          <p:nvPr/>
        </p:nvSpPr>
        <p:spPr>
          <a:xfrm>
            <a:off x="17984982" y="3376462"/>
            <a:ext cx="272705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Support</a:t>
            </a:r>
            <a:endParaRPr dirty="0"/>
          </a:p>
        </p:txBody>
      </p:sp>
      <p:sp>
        <p:nvSpPr>
          <p:cNvPr id="39" name="Google Shape;151;p18">
            <a:extLst>
              <a:ext uri="{FF2B5EF4-FFF2-40B4-BE49-F238E27FC236}">
                <a16:creationId xmlns:a16="http://schemas.microsoft.com/office/drawing/2014/main" id="{49B60B17-95AA-ECC6-E8A5-AFCD26C2F4F1}"/>
              </a:ext>
            </a:extLst>
          </p:cNvPr>
          <p:cNvSpPr txBox="1"/>
          <p:nvPr/>
        </p:nvSpPr>
        <p:spPr>
          <a:xfrm>
            <a:off x="18038198" y="3703753"/>
            <a:ext cx="25971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Using AI we made an built in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therapy companion </a:t>
            </a: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to help give users a place to vent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without any barriers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pic>
        <p:nvPicPr>
          <p:cNvPr id="40" name="Google Shape;152;p18" descr="image.png">
            <a:extLst>
              <a:ext uri="{FF2B5EF4-FFF2-40B4-BE49-F238E27FC236}">
                <a16:creationId xmlns:a16="http://schemas.microsoft.com/office/drawing/2014/main" id="{6DF68313-056E-5BBF-DCA8-8A1E4F4261E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743549" y="256813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153;p18">
            <a:extLst>
              <a:ext uri="{FF2B5EF4-FFF2-40B4-BE49-F238E27FC236}">
                <a16:creationId xmlns:a16="http://schemas.microsoft.com/office/drawing/2014/main" id="{915C91FA-FF48-F274-83B4-4F98A652723C}"/>
              </a:ext>
            </a:extLst>
          </p:cNvPr>
          <p:cNvSpPr txBox="1"/>
          <p:nvPr/>
        </p:nvSpPr>
        <p:spPr>
          <a:xfrm>
            <a:off x="21618222" y="3260377"/>
            <a:ext cx="272690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Support</a:t>
            </a:r>
            <a:endParaRPr dirty="0"/>
          </a:p>
        </p:txBody>
      </p:sp>
      <p:sp>
        <p:nvSpPr>
          <p:cNvPr id="42" name="Google Shape;154;p18">
            <a:extLst>
              <a:ext uri="{FF2B5EF4-FFF2-40B4-BE49-F238E27FC236}">
                <a16:creationId xmlns:a16="http://schemas.microsoft.com/office/drawing/2014/main" id="{F933821E-05F9-D68F-3E4C-39BDA9D72C28}"/>
              </a:ext>
            </a:extLst>
          </p:cNvPr>
          <p:cNvSpPr txBox="1"/>
          <p:nvPr/>
        </p:nvSpPr>
        <p:spPr>
          <a:xfrm>
            <a:off x="21769673" y="3587668"/>
            <a:ext cx="25970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AI gives us the ability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to learn instantly</a:t>
            </a: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 from our mistakes at hand instead of questioning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what was wron</a:t>
            </a:r>
            <a:r>
              <a:rPr lang="en-US" sz="1350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g and where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sp>
        <p:nvSpPr>
          <p:cNvPr id="43" name="Google Shape;155;p18">
            <a:extLst>
              <a:ext uri="{FF2B5EF4-FFF2-40B4-BE49-F238E27FC236}">
                <a16:creationId xmlns:a16="http://schemas.microsoft.com/office/drawing/2014/main" id="{BEE4F5A2-697C-DE24-4D06-2428A84CDB87}"/>
              </a:ext>
            </a:extLst>
          </p:cNvPr>
          <p:cNvSpPr txBox="1"/>
          <p:nvPr/>
        </p:nvSpPr>
        <p:spPr>
          <a:xfrm>
            <a:off x="14202899" y="77152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How AI shaped our product</a:t>
            </a:r>
            <a:endParaRPr dirty="0"/>
          </a:p>
        </p:txBody>
      </p:sp>
      <p:sp>
        <p:nvSpPr>
          <p:cNvPr id="44" name="Google Shape;156;p18">
            <a:extLst>
              <a:ext uri="{FF2B5EF4-FFF2-40B4-BE49-F238E27FC236}">
                <a16:creationId xmlns:a16="http://schemas.microsoft.com/office/drawing/2014/main" id="{290D032A-3617-8897-66BA-3653CFCF4CB9}"/>
              </a:ext>
            </a:extLst>
          </p:cNvPr>
          <p:cNvSpPr/>
          <p:nvPr/>
        </p:nvSpPr>
        <p:spPr>
          <a:xfrm>
            <a:off x="14012399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93;p14" descr="image.png">
            <a:extLst>
              <a:ext uri="{FF2B5EF4-FFF2-40B4-BE49-F238E27FC236}">
                <a16:creationId xmlns:a16="http://schemas.microsoft.com/office/drawing/2014/main" id="{4F655A4B-3B62-0D13-AE54-C9EBBCE633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9553410" y="69729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93;p14" descr="image.png">
            <a:extLst>
              <a:ext uri="{FF2B5EF4-FFF2-40B4-BE49-F238E27FC236}">
                <a16:creationId xmlns:a16="http://schemas.microsoft.com/office/drawing/2014/main" id="{AB098E4D-4D0A-5987-048E-1982BB4EC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43885" y="69729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raphic 46" descr="Medical with solid fill">
            <a:extLst>
              <a:ext uri="{FF2B5EF4-FFF2-40B4-BE49-F238E27FC236}">
                <a16:creationId xmlns:a16="http://schemas.microsoft.com/office/drawing/2014/main" id="{51EF385F-BF9C-29FF-828C-04FB73939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65549" y="722601"/>
            <a:ext cx="583620" cy="583620"/>
          </a:xfrm>
          <a:prstGeom prst="rect">
            <a:avLst/>
          </a:prstGeom>
        </p:spPr>
      </p:pic>
      <p:sp>
        <p:nvSpPr>
          <p:cNvPr id="53" name="Rectangle 5">
            <a:extLst>
              <a:ext uri="{FF2B5EF4-FFF2-40B4-BE49-F238E27FC236}">
                <a16:creationId xmlns:a16="http://schemas.microsoft.com/office/drawing/2014/main" id="{67690FE4-C11B-AB13-C7AD-7A62BC23D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223" y="1838650"/>
            <a:ext cx="404988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Build initial app structure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React + Vite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Set up standard UI layout and navigation templates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 Medium" pitchFamily="2" charset="0"/>
              </a:rPr>
              <a:t>.</a:t>
            </a:r>
          </a:p>
        </p:txBody>
      </p:sp>
      <p:sp>
        <p:nvSpPr>
          <p:cNvPr id="54" name="Rectangle 6">
            <a:extLst>
              <a:ext uri="{FF2B5EF4-FFF2-40B4-BE49-F238E27FC236}">
                <a16:creationId xmlns:a16="http://schemas.microsoft.com/office/drawing/2014/main" id="{AD3AB604-8019-89E1-C774-617785E9B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7163" y="4277308"/>
            <a:ext cx="46994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implement routing architecture with protected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Deploy secure microservices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OTP (One-Time Password) login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.</a:t>
            </a:r>
          </a:p>
        </p:txBody>
      </p:sp>
      <p:sp>
        <p:nvSpPr>
          <p:cNvPr id="57" name="Rectangle 9">
            <a:extLst>
              <a:ext uri="{FF2B5EF4-FFF2-40B4-BE49-F238E27FC236}">
                <a16:creationId xmlns:a16="http://schemas.microsoft.com/office/drawing/2014/main" id="{856E6FD3-A6CF-2DE8-F182-1DBF8C89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1641" y="1908980"/>
            <a:ext cx="515912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Build real-time chat components (Chat Window, Friends List, Message Input).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Powered chat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via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WebSockets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, AWS Lambda, and DynamoDB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.</a:t>
            </a:r>
          </a:p>
        </p:txBody>
      </p:sp>
      <p:sp>
        <p:nvSpPr>
          <p:cNvPr id="58" name="Rectangle 10">
            <a:extLst>
              <a:ext uri="{FF2B5EF4-FFF2-40B4-BE49-F238E27FC236}">
                <a16:creationId xmlns:a16="http://schemas.microsoft.com/office/drawing/2014/main" id="{D6F2CD39-31BF-3ACE-0532-4A142D02B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6638" y="3978010"/>
            <a:ext cx="453658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Connect streaming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08F02"/>
                </a:solidFill>
                <a:effectLst/>
                <a:latin typeface="DM Sans Medium" pitchFamily="2" charset="0"/>
              </a:rPr>
              <a:t>AI backend to frontend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streaming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M Sans Medium" pitchFamily="2" charset="0"/>
              </a:rPr>
              <a:t>Deliver real-time, responsive conversational support.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FB8470-D419-A48B-7B45-A46D14893D8C}"/>
              </a:ext>
            </a:extLst>
          </p:cNvPr>
          <p:cNvSpPr/>
          <p:nvPr/>
        </p:nvSpPr>
        <p:spPr>
          <a:xfrm>
            <a:off x="12193463" y="-24864"/>
            <a:ext cx="13411745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412652"/>
            <a:ext cx="33590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325" y="2412652"/>
            <a:ext cx="3359199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412652"/>
            <a:ext cx="33590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13075" y="2606501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1087598" y="3381114"/>
            <a:ext cx="272690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Rapid Prototypes</a:t>
            </a:r>
            <a:endParaRPr dirty="0"/>
          </a:p>
        </p:txBody>
      </p:sp>
      <p:sp>
        <p:nvSpPr>
          <p:cNvPr id="148" name="Google Shape;148;p18"/>
          <p:cNvSpPr txBox="1"/>
          <p:nvPr/>
        </p:nvSpPr>
        <p:spPr>
          <a:xfrm>
            <a:off x="1152524" y="3716936"/>
            <a:ext cx="25970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With AI we were given th</a:t>
            </a:r>
            <a:r>
              <a:rPr lang="en-US" sz="1350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e ability to quickly </a:t>
            </a:r>
            <a:r>
              <a:rPr lang="en-US" sz="1350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create sketches</a:t>
            </a:r>
            <a:r>
              <a:rPr lang="en-US" sz="1350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 to get an idea of </a:t>
            </a:r>
            <a:r>
              <a:rPr lang="en-US" sz="1350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what our product should look like.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9513" y="260650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4744108" y="3376462"/>
            <a:ext cx="272705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Support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4797324" y="3703753"/>
            <a:ext cx="25971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Using AI we made an built in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therapy companion </a:t>
            </a: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to help give users a place to vent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without any barriers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02675" y="256813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377348" y="3260377"/>
            <a:ext cx="272690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Support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8528799" y="3587668"/>
            <a:ext cx="25970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AI gives us the ability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to learn instantly</a:t>
            </a:r>
            <a:r>
              <a:rPr lang="en-US" sz="1350" b="0" i="0" u="none" strike="noStrike" cap="none" dirty="0">
                <a:solidFill>
                  <a:srgbClr val="A0A8B8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 from our mistakes at hand instead of questioning </a:t>
            </a:r>
            <a:r>
              <a:rPr lang="en-US" sz="1350" b="0" i="0" u="none" strike="noStrike" cap="none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what was wron</a:t>
            </a:r>
            <a:r>
              <a:rPr lang="en-US" sz="1350" dirty="0">
                <a:solidFill>
                  <a:srgbClr val="F08F02"/>
                </a:solidFill>
                <a:latin typeface="DM Sans Medium" pitchFamily="2" charset="0"/>
                <a:ea typeface="DM Sans"/>
                <a:cs typeface="DM Sans"/>
                <a:sym typeface="DM Sans"/>
              </a:rPr>
              <a:t>g and where</a:t>
            </a:r>
            <a:endParaRPr dirty="0">
              <a:solidFill>
                <a:srgbClr val="F08F02"/>
              </a:solidFill>
              <a:latin typeface="DM Sans Medium" pitchFamily="2" charset="0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771525"/>
            <a:ext cx="1098137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How AI shaped our product</a:t>
            </a:r>
            <a:endParaRPr dirty="0"/>
          </a:p>
        </p:txBody>
      </p:sp>
      <p:sp>
        <p:nvSpPr>
          <p:cNvPr id="156" name="Google Shape;156;p18"/>
          <p:cNvSpPr/>
          <p:nvPr/>
        </p:nvSpPr>
        <p:spPr>
          <a:xfrm>
            <a:off x="771525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61;p19" descr="image.png">
            <a:extLst>
              <a:ext uri="{FF2B5EF4-FFF2-40B4-BE49-F238E27FC236}">
                <a16:creationId xmlns:a16="http://schemas.microsoft.com/office/drawing/2014/main" id="{AD44B0B9-4164-0936-5514-0B8F3B5CA8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23176" y="-16862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2;p19">
            <a:extLst>
              <a:ext uri="{FF2B5EF4-FFF2-40B4-BE49-F238E27FC236}">
                <a16:creationId xmlns:a16="http://schemas.microsoft.com/office/drawing/2014/main" id="{F02E16FE-4E0D-9EFD-470F-7C595E55151B}"/>
              </a:ext>
            </a:extLst>
          </p:cNvPr>
          <p:cNvSpPr txBox="1"/>
          <p:nvPr/>
        </p:nvSpPr>
        <p:spPr>
          <a:xfrm>
            <a:off x="14294701" y="1659284"/>
            <a:ext cx="479059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RAPID RESPONSE</a:t>
            </a:r>
            <a:endParaRPr/>
          </a:p>
        </p:txBody>
      </p:sp>
      <p:sp>
        <p:nvSpPr>
          <p:cNvPr id="4" name="Google Shape;163;p19">
            <a:extLst>
              <a:ext uri="{FF2B5EF4-FFF2-40B4-BE49-F238E27FC236}">
                <a16:creationId xmlns:a16="http://schemas.microsoft.com/office/drawing/2014/main" id="{9C33538A-BFE6-3377-F7E7-08DB31F703F0}"/>
              </a:ext>
            </a:extLst>
          </p:cNvPr>
          <p:cNvSpPr txBox="1"/>
          <p:nvPr/>
        </p:nvSpPr>
        <p:spPr>
          <a:xfrm>
            <a:off x="14294701" y="2754659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800" b="1" i="0" u="none" strike="noStrike" cap="none">
                <a:solidFill>
                  <a:srgbClr val="FF9800"/>
                </a:solidFill>
                <a:latin typeface="DM Sans"/>
                <a:ea typeface="DM Sans"/>
                <a:cs typeface="DM Sans"/>
                <a:sym typeface="DM Sans"/>
              </a:rPr>
              <a:t>"Get Help Now"</a:t>
            </a:r>
            <a:r>
              <a:rPr lang="en-US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portal acts as a critical lifeline.</a:t>
            </a:r>
            <a:endParaRPr/>
          </a:p>
        </p:txBody>
      </p:sp>
      <p:sp>
        <p:nvSpPr>
          <p:cNvPr id="5" name="Google Shape;164;p19">
            <a:extLst>
              <a:ext uri="{FF2B5EF4-FFF2-40B4-BE49-F238E27FC236}">
                <a16:creationId xmlns:a16="http://schemas.microsoft.com/office/drawing/2014/main" id="{8CF7552A-DD83-FB3D-4AF1-0C716B2F9880}"/>
              </a:ext>
            </a:extLst>
          </p:cNvPr>
          <p:cNvSpPr txBox="1"/>
          <p:nvPr/>
        </p:nvSpPr>
        <p:spPr>
          <a:xfrm>
            <a:off x="14294701" y="3886050"/>
            <a:ext cx="4562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During acute stress, decision fatigue is high. We bypass complex navigation to connect users with professionals in under two clicks.</a:t>
            </a:r>
            <a:endParaRPr/>
          </a:p>
        </p:txBody>
      </p:sp>
      <p:pic>
        <p:nvPicPr>
          <p:cNvPr id="6" name="Google Shape;165;p19" descr="image.png">
            <a:extLst>
              <a:ext uri="{FF2B5EF4-FFF2-40B4-BE49-F238E27FC236}">
                <a16:creationId xmlns:a16="http://schemas.microsoft.com/office/drawing/2014/main" id="{E16F1953-6AB0-6122-4421-7D2AA2EC046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619176" y="-159098"/>
            <a:ext cx="6086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3;p14" descr="image.png">
            <a:extLst>
              <a:ext uri="{FF2B5EF4-FFF2-40B4-BE49-F238E27FC236}">
                <a16:creationId xmlns:a16="http://schemas.microsoft.com/office/drawing/2014/main" id="{0D684257-08B1-2C99-FA4C-65B8F41155D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6312536" y="69729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3;p14" descr="image.png">
            <a:extLst>
              <a:ext uri="{FF2B5EF4-FFF2-40B4-BE49-F238E27FC236}">
                <a16:creationId xmlns:a16="http://schemas.microsoft.com/office/drawing/2014/main" id="{45EDA8FA-D81D-5D95-7BCA-9F60422F09C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03011" y="69729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phic 8" descr="Medical with solid fill">
            <a:extLst>
              <a:ext uri="{FF2B5EF4-FFF2-40B4-BE49-F238E27FC236}">
                <a16:creationId xmlns:a16="http://schemas.microsoft.com/office/drawing/2014/main" id="{D0BBA02F-7428-7F01-099A-3B805E8047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24675" y="722601"/>
            <a:ext cx="583620" cy="58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5E20541-9572-2FE3-4FDA-C31868B8BF27}"/>
              </a:ext>
            </a:extLst>
          </p:cNvPr>
          <p:cNvSpPr/>
          <p:nvPr/>
        </p:nvSpPr>
        <p:spPr>
          <a:xfrm>
            <a:off x="-324123" y="6879761"/>
            <a:ext cx="13411745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051E80-FF6D-C339-B69B-68E5BA7A7334}"/>
              </a:ext>
            </a:extLst>
          </p:cNvPr>
          <p:cNvSpPr/>
          <p:nvPr/>
        </p:nvSpPr>
        <p:spPr>
          <a:xfrm>
            <a:off x="12193463" y="-24864"/>
            <a:ext cx="13411745" cy="6858000"/>
          </a:xfrm>
          <a:prstGeom prst="rect">
            <a:avLst/>
          </a:prstGeom>
          <a:solidFill>
            <a:srgbClr val="F08F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525" y="21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657463" y="975866"/>
            <a:ext cx="2540604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Therapist </a:t>
            </a:r>
            <a:endParaRPr dirty="0"/>
          </a:p>
        </p:txBody>
      </p:sp>
      <p:sp>
        <p:nvSpPr>
          <p:cNvPr id="163" name="Google Shape;163;p19"/>
          <p:cNvSpPr txBox="1"/>
          <p:nvPr/>
        </p:nvSpPr>
        <p:spPr>
          <a:xfrm>
            <a:off x="657463" y="1939434"/>
            <a:ext cx="45624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800" b="1" i="0" u="none" strike="noStrike" cap="none" dirty="0">
                <a:solidFill>
                  <a:srgbClr val="FF9800"/>
                </a:solidFill>
                <a:latin typeface="DM Sans"/>
                <a:ea typeface="DM Sans"/>
                <a:cs typeface="DM Sans"/>
                <a:sym typeface="DM Sans"/>
              </a:rPr>
              <a:t>"Get Help Now"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portal acts as a critical lifeline.</a:t>
            </a:r>
            <a:endParaRPr dirty="0"/>
          </a:p>
        </p:txBody>
      </p:sp>
      <p:sp>
        <p:nvSpPr>
          <p:cNvPr id="164" name="Google Shape;164;p19"/>
          <p:cNvSpPr txBox="1"/>
          <p:nvPr/>
        </p:nvSpPr>
        <p:spPr>
          <a:xfrm>
            <a:off x="657463" y="3017565"/>
            <a:ext cx="45624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0A8B8"/>
                </a:solidFill>
                <a:latin typeface="DM Sans"/>
                <a:sym typeface="DM Sans"/>
              </a:rPr>
              <a:t>When people are not able to get the proper help that they need we have our own AI Therapist on hand to assess the situation and give guidance when needed </a:t>
            </a:r>
            <a:endParaRPr dirty="0"/>
          </a:p>
        </p:txBody>
      </p:sp>
      <p:pic>
        <p:nvPicPr>
          <p:cNvPr id="3" name="Graphic 2" descr="Chat with solid fill">
            <a:extLst>
              <a:ext uri="{FF2B5EF4-FFF2-40B4-BE49-F238E27FC236}">
                <a16:creationId xmlns:a16="http://schemas.microsoft.com/office/drawing/2014/main" id="{73E50DBA-404D-7FF4-54C7-FC8EEE009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7161" y="4331065"/>
            <a:ext cx="1542387" cy="1542387"/>
          </a:xfrm>
          <a:prstGeom prst="rect">
            <a:avLst/>
          </a:prstGeom>
        </p:spPr>
      </p:pic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5D34FE3D-8C93-FB46-9F16-BF1D477749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367" y="4393682"/>
            <a:ext cx="1530052" cy="1530052"/>
          </a:xfrm>
          <a:prstGeom prst="rect">
            <a:avLst/>
          </a:prstGeom>
        </p:spPr>
      </p:pic>
      <p:pic>
        <p:nvPicPr>
          <p:cNvPr id="7" name="Graphic 6" descr="Chat bubble with solid fill">
            <a:extLst>
              <a:ext uri="{FF2B5EF4-FFF2-40B4-BE49-F238E27FC236}">
                <a16:creationId xmlns:a16="http://schemas.microsoft.com/office/drawing/2014/main" id="{E061B55E-DF66-2076-41B7-8FA5BEEC31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5166" y="4398484"/>
            <a:ext cx="1542387" cy="1542387"/>
          </a:xfrm>
          <a:prstGeom prst="rect">
            <a:avLst/>
          </a:prstGeom>
        </p:spPr>
      </p:pic>
      <p:sp>
        <p:nvSpPr>
          <p:cNvPr id="8" name="Google Shape;156;p18">
            <a:extLst>
              <a:ext uri="{FF2B5EF4-FFF2-40B4-BE49-F238E27FC236}">
                <a16:creationId xmlns:a16="http://schemas.microsoft.com/office/drawing/2014/main" id="{D504E6CA-827F-3333-8CF0-01E367B89BBB}"/>
              </a:ext>
            </a:extLst>
          </p:cNvPr>
          <p:cNvSpPr/>
          <p:nvPr/>
        </p:nvSpPr>
        <p:spPr>
          <a:xfrm>
            <a:off x="344792" y="97586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91;p21" descr="image.png">
            <a:extLst>
              <a:ext uri="{FF2B5EF4-FFF2-40B4-BE49-F238E27FC236}">
                <a16:creationId xmlns:a16="http://schemas.microsoft.com/office/drawing/2014/main" id="{E51CBB3E-6CC8-1B8D-893A-E32211331D6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86475" y="1306975"/>
            <a:ext cx="50387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3;p14" descr="image.png">
            <a:extLst>
              <a:ext uri="{FF2B5EF4-FFF2-40B4-BE49-F238E27FC236}">
                <a16:creationId xmlns:a16="http://schemas.microsoft.com/office/drawing/2014/main" id="{DF24B3C8-4B97-9918-7F0A-00FD5FD1897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98067" y="933786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3;p14" descr="image.png">
            <a:extLst>
              <a:ext uri="{FF2B5EF4-FFF2-40B4-BE49-F238E27FC236}">
                <a16:creationId xmlns:a16="http://schemas.microsoft.com/office/drawing/2014/main" id="{000E18B8-CDB7-8BA4-6B84-4A5A7FD2626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3284035" y="958410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 descr="Medical with solid fill">
            <a:extLst>
              <a:ext uri="{FF2B5EF4-FFF2-40B4-BE49-F238E27FC236}">
                <a16:creationId xmlns:a16="http://schemas.microsoft.com/office/drawing/2014/main" id="{F2FFB564-1AD3-9EA8-7BF9-2A7900103C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74208" y="996712"/>
            <a:ext cx="583620" cy="583620"/>
          </a:xfrm>
          <a:prstGeom prst="rect">
            <a:avLst/>
          </a:prstGeom>
        </p:spPr>
      </p:pic>
      <p:pic>
        <p:nvPicPr>
          <p:cNvPr id="10" name="Google Shape;190;p21" descr="image.png">
            <a:extLst>
              <a:ext uri="{FF2B5EF4-FFF2-40B4-BE49-F238E27FC236}">
                <a16:creationId xmlns:a16="http://schemas.microsoft.com/office/drawing/2014/main" id="{753CBE53-3C82-DC97-0D01-DAB6F0C9DD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76006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1;p21" descr="image.png">
            <a:extLst>
              <a:ext uri="{FF2B5EF4-FFF2-40B4-BE49-F238E27FC236}">
                <a16:creationId xmlns:a16="http://schemas.microsoft.com/office/drawing/2014/main" id="{F2787ABB-E313-24F8-08E5-D6CA60B59BE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9479327"/>
            <a:ext cx="50387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2;p21" descr="image.png">
            <a:extLst>
              <a:ext uri="{FF2B5EF4-FFF2-40B4-BE49-F238E27FC236}">
                <a16:creationId xmlns:a16="http://schemas.microsoft.com/office/drawing/2014/main" id="{FEE51F83-703D-C719-E548-4DC8E8F198E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81750" y="9597497"/>
            <a:ext cx="5038725" cy="192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93;p21" descr="image.png">
            <a:extLst>
              <a:ext uri="{FF2B5EF4-FFF2-40B4-BE49-F238E27FC236}">
                <a16:creationId xmlns:a16="http://schemas.microsoft.com/office/drawing/2014/main" id="{6A582B47-69AC-0304-F6C4-A51D3381973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81750" y="11717702"/>
            <a:ext cx="5038725" cy="192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95;p21">
            <a:extLst>
              <a:ext uri="{FF2B5EF4-FFF2-40B4-BE49-F238E27FC236}">
                <a16:creationId xmlns:a16="http://schemas.microsoft.com/office/drawing/2014/main" id="{44C75E56-BEC2-B251-B8EB-02BEF33D54C4}"/>
              </a:ext>
            </a:extLst>
          </p:cNvPr>
          <p:cNvSpPr txBox="1"/>
          <p:nvPr/>
        </p:nvSpPr>
        <p:spPr>
          <a:xfrm>
            <a:off x="6762750" y="9953196"/>
            <a:ext cx="4490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Website Login</a:t>
            </a:r>
            <a:endParaRPr dirty="0"/>
          </a:p>
        </p:txBody>
      </p:sp>
      <p:sp>
        <p:nvSpPr>
          <p:cNvPr id="15" name="Google Shape;196;p21">
            <a:extLst>
              <a:ext uri="{FF2B5EF4-FFF2-40B4-BE49-F238E27FC236}">
                <a16:creationId xmlns:a16="http://schemas.microsoft.com/office/drawing/2014/main" id="{220A0DE1-941F-8AB2-5ACF-AA4048CA5A57}"/>
              </a:ext>
            </a:extLst>
          </p:cNvPr>
          <p:cNvSpPr txBox="1"/>
          <p:nvPr/>
        </p:nvSpPr>
        <p:spPr>
          <a:xfrm>
            <a:off x="6762750" y="10426172"/>
            <a:ext cx="42767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As the Website initializes we make it so you must </a:t>
            </a:r>
            <a:r>
              <a:rPr lang="en-US" sz="1350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sign up or login</a:t>
            </a:r>
            <a:endParaRPr dirty="0"/>
          </a:p>
        </p:txBody>
      </p:sp>
      <p:sp>
        <p:nvSpPr>
          <p:cNvPr id="16" name="Google Shape;197;p21">
            <a:extLst>
              <a:ext uri="{FF2B5EF4-FFF2-40B4-BE49-F238E27FC236}">
                <a16:creationId xmlns:a16="http://schemas.microsoft.com/office/drawing/2014/main" id="{032EC361-A8DF-C50C-CF3A-417926AD0574}"/>
              </a:ext>
            </a:extLst>
          </p:cNvPr>
          <p:cNvSpPr txBox="1"/>
          <p:nvPr/>
        </p:nvSpPr>
        <p:spPr>
          <a:xfrm>
            <a:off x="6655831" y="11959938"/>
            <a:ext cx="4490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Daily Check and Calendar</a:t>
            </a:r>
          </a:p>
        </p:txBody>
      </p:sp>
      <p:sp>
        <p:nvSpPr>
          <p:cNvPr id="17" name="Google Shape;198;p21">
            <a:extLst>
              <a:ext uri="{FF2B5EF4-FFF2-40B4-BE49-F238E27FC236}">
                <a16:creationId xmlns:a16="http://schemas.microsoft.com/office/drawing/2014/main" id="{14E95BEA-B004-0E10-6945-744A451D4083}"/>
              </a:ext>
            </a:extLst>
          </p:cNvPr>
          <p:cNvSpPr txBox="1"/>
          <p:nvPr/>
        </p:nvSpPr>
        <p:spPr>
          <a:xfrm>
            <a:off x="6655831" y="12339783"/>
            <a:ext cx="42767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When you login you are met with a calendar with the ability to write in your mood</a:t>
            </a:r>
            <a:endParaRPr dirty="0"/>
          </a:p>
        </p:txBody>
      </p:sp>
      <p:sp>
        <p:nvSpPr>
          <p:cNvPr id="18" name="Google Shape;199;p21">
            <a:extLst>
              <a:ext uri="{FF2B5EF4-FFF2-40B4-BE49-F238E27FC236}">
                <a16:creationId xmlns:a16="http://schemas.microsoft.com/office/drawing/2014/main" id="{2DD55715-4FCD-E0F4-88B4-75CC8A070888}"/>
              </a:ext>
            </a:extLst>
          </p:cNvPr>
          <p:cNvSpPr txBox="1"/>
          <p:nvPr/>
        </p:nvSpPr>
        <p:spPr>
          <a:xfrm>
            <a:off x="962025" y="8531590"/>
            <a:ext cx="12773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endParaRPr dirty="0"/>
          </a:p>
        </p:txBody>
      </p:sp>
      <p:sp>
        <p:nvSpPr>
          <p:cNvPr id="19" name="Google Shape;200;p21">
            <a:extLst>
              <a:ext uri="{FF2B5EF4-FFF2-40B4-BE49-F238E27FC236}">
                <a16:creationId xmlns:a16="http://schemas.microsoft.com/office/drawing/2014/main" id="{9D092800-D671-2C91-9184-1E844AD22E84}"/>
              </a:ext>
            </a:extLst>
          </p:cNvPr>
          <p:cNvSpPr/>
          <p:nvPr/>
        </p:nvSpPr>
        <p:spPr>
          <a:xfrm>
            <a:off x="771525" y="8531590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93;p14" descr="image.png">
            <a:extLst>
              <a:ext uri="{FF2B5EF4-FFF2-40B4-BE49-F238E27FC236}">
                <a16:creationId xmlns:a16="http://schemas.microsoft.com/office/drawing/2014/main" id="{D1E34123-75A4-BFA3-322F-1F32C1FAFFD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2509594" y="8457360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93;p14" descr="image.png">
            <a:extLst>
              <a:ext uri="{FF2B5EF4-FFF2-40B4-BE49-F238E27FC236}">
                <a16:creationId xmlns:a16="http://schemas.microsoft.com/office/drawing/2014/main" id="{A8AD273E-4DE2-2BB9-DA65-4CF0FDE5F74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70317" y="8457359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raphic 21" descr="Medical with solid fill">
            <a:extLst>
              <a:ext uri="{FF2B5EF4-FFF2-40B4-BE49-F238E27FC236}">
                <a16:creationId xmlns:a16="http://schemas.microsoft.com/office/drawing/2014/main" id="{DF5D24E3-4A07-AFC3-7808-52E935E85E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46458" y="8507973"/>
            <a:ext cx="583620" cy="583620"/>
          </a:xfrm>
          <a:prstGeom prst="rect">
            <a:avLst/>
          </a:prstGeom>
        </p:spPr>
      </p:pic>
      <p:pic>
        <p:nvPicPr>
          <p:cNvPr id="23" name="Google Shape;190;p21" descr="image.png">
            <a:extLst>
              <a:ext uri="{FF2B5EF4-FFF2-40B4-BE49-F238E27FC236}">
                <a16:creationId xmlns:a16="http://schemas.microsoft.com/office/drawing/2014/main" id="{06370E45-F72A-3BFD-85B7-6832EEDB3E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4621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91;p21" descr="image.png">
            <a:extLst>
              <a:ext uri="{FF2B5EF4-FFF2-40B4-BE49-F238E27FC236}">
                <a16:creationId xmlns:a16="http://schemas.microsoft.com/office/drawing/2014/main" id="{A44D52F4-394E-0E53-91B9-0D86EBD8841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17742" y="1719262"/>
            <a:ext cx="50387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92;p21" descr="image.png">
            <a:extLst>
              <a:ext uri="{FF2B5EF4-FFF2-40B4-BE49-F238E27FC236}">
                <a16:creationId xmlns:a16="http://schemas.microsoft.com/office/drawing/2014/main" id="{4FBAB600-1822-9B48-34F5-9424901A6191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627967" y="1837432"/>
            <a:ext cx="5038725" cy="192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93;p21" descr="image.png">
            <a:extLst>
              <a:ext uri="{FF2B5EF4-FFF2-40B4-BE49-F238E27FC236}">
                <a16:creationId xmlns:a16="http://schemas.microsoft.com/office/drawing/2014/main" id="{4CA116C0-9DD1-55BE-8A2F-32F2BCA49D3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0627967" y="3957637"/>
            <a:ext cx="5038725" cy="192970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95;p21">
            <a:extLst>
              <a:ext uri="{FF2B5EF4-FFF2-40B4-BE49-F238E27FC236}">
                <a16:creationId xmlns:a16="http://schemas.microsoft.com/office/drawing/2014/main" id="{EDB7D963-0F61-4948-CF3A-53D7625AF17F}"/>
              </a:ext>
            </a:extLst>
          </p:cNvPr>
          <p:cNvSpPr txBox="1"/>
          <p:nvPr/>
        </p:nvSpPr>
        <p:spPr>
          <a:xfrm>
            <a:off x="21008967" y="2193131"/>
            <a:ext cx="4490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Website Login</a:t>
            </a:r>
            <a:endParaRPr dirty="0"/>
          </a:p>
        </p:txBody>
      </p:sp>
      <p:sp>
        <p:nvSpPr>
          <p:cNvPr id="28" name="Google Shape;196;p21">
            <a:extLst>
              <a:ext uri="{FF2B5EF4-FFF2-40B4-BE49-F238E27FC236}">
                <a16:creationId xmlns:a16="http://schemas.microsoft.com/office/drawing/2014/main" id="{615F6713-5782-1ABC-B809-8619749905BE}"/>
              </a:ext>
            </a:extLst>
          </p:cNvPr>
          <p:cNvSpPr txBox="1"/>
          <p:nvPr/>
        </p:nvSpPr>
        <p:spPr>
          <a:xfrm>
            <a:off x="21008967" y="2666107"/>
            <a:ext cx="42767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As the Website initializes we make it so you must </a:t>
            </a:r>
            <a:r>
              <a:rPr lang="en-US" sz="1350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sign up or login</a:t>
            </a:r>
            <a:endParaRPr dirty="0"/>
          </a:p>
        </p:txBody>
      </p:sp>
      <p:sp>
        <p:nvSpPr>
          <p:cNvPr id="29" name="Google Shape;197;p21">
            <a:extLst>
              <a:ext uri="{FF2B5EF4-FFF2-40B4-BE49-F238E27FC236}">
                <a16:creationId xmlns:a16="http://schemas.microsoft.com/office/drawing/2014/main" id="{89CAD21C-C208-840A-1C24-5E381319B4FD}"/>
              </a:ext>
            </a:extLst>
          </p:cNvPr>
          <p:cNvSpPr txBox="1"/>
          <p:nvPr/>
        </p:nvSpPr>
        <p:spPr>
          <a:xfrm>
            <a:off x="20902048" y="4199873"/>
            <a:ext cx="4490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Daily Check and Calendar</a:t>
            </a:r>
          </a:p>
        </p:txBody>
      </p:sp>
      <p:sp>
        <p:nvSpPr>
          <p:cNvPr id="30" name="Google Shape;198;p21">
            <a:extLst>
              <a:ext uri="{FF2B5EF4-FFF2-40B4-BE49-F238E27FC236}">
                <a16:creationId xmlns:a16="http://schemas.microsoft.com/office/drawing/2014/main" id="{4E73506A-4C82-2FF8-50D3-17C22DEC3B0B}"/>
              </a:ext>
            </a:extLst>
          </p:cNvPr>
          <p:cNvSpPr txBox="1"/>
          <p:nvPr/>
        </p:nvSpPr>
        <p:spPr>
          <a:xfrm>
            <a:off x="20902048" y="4579718"/>
            <a:ext cx="42767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When you login you are met with a calendar with the ability to write in your mood</a:t>
            </a:r>
            <a:endParaRPr dirty="0"/>
          </a:p>
        </p:txBody>
      </p:sp>
      <p:sp>
        <p:nvSpPr>
          <p:cNvPr id="31" name="Google Shape;199;p21">
            <a:extLst>
              <a:ext uri="{FF2B5EF4-FFF2-40B4-BE49-F238E27FC236}">
                <a16:creationId xmlns:a16="http://schemas.microsoft.com/office/drawing/2014/main" id="{4CF10A35-6F15-70F4-6DA9-41221D9483EB}"/>
              </a:ext>
            </a:extLst>
          </p:cNvPr>
          <p:cNvSpPr txBox="1"/>
          <p:nvPr/>
        </p:nvSpPr>
        <p:spPr>
          <a:xfrm>
            <a:off x="15208242" y="771525"/>
            <a:ext cx="12773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endParaRPr dirty="0"/>
          </a:p>
        </p:txBody>
      </p:sp>
      <p:sp>
        <p:nvSpPr>
          <p:cNvPr id="32" name="Google Shape;200;p21">
            <a:extLst>
              <a:ext uri="{FF2B5EF4-FFF2-40B4-BE49-F238E27FC236}">
                <a16:creationId xmlns:a16="http://schemas.microsoft.com/office/drawing/2014/main" id="{804C8B98-12B7-0ABF-3745-6D312FF31A94}"/>
              </a:ext>
            </a:extLst>
          </p:cNvPr>
          <p:cNvSpPr/>
          <p:nvPr/>
        </p:nvSpPr>
        <p:spPr>
          <a:xfrm>
            <a:off x="15017742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93;p14" descr="image.png">
            <a:extLst>
              <a:ext uri="{FF2B5EF4-FFF2-40B4-BE49-F238E27FC236}">
                <a16:creationId xmlns:a16="http://schemas.microsoft.com/office/drawing/2014/main" id="{F499F867-108A-47E3-A448-4895CE90E41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10800000">
            <a:off x="16755811" y="69729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93;p14" descr="image.png">
            <a:extLst>
              <a:ext uri="{FF2B5EF4-FFF2-40B4-BE49-F238E27FC236}">
                <a16:creationId xmlns:a16="http://schemas.microsoft.com/office/drawing/2014/main" id="{CB28F76F-E973-8379-F231-88D5C00E3BC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616534" y="697294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raphic 34" descr="Medical with solid fill">
            <a:extLst>
              <a:ext uri="{FF2B5EF4-FFF2-40B4-BE49-F238E27FC236}">
                <a16:creationId xmlns:a16="http://schemas.microsoft.com/office/drawing/2014/main" id="{D3E57D65-EA88-D96D-8D38-1AE21D59D0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92675" y="747908"/>
            <a:ext cx="583620" cy="58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719262"/>
            <a:ext cx="50387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37432"/>
            <a:ext cx="5038725" cy="192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957637"/>
            <a:ext cx="5038725" cy="192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6762750" y="2193131"/>
            <a:ext cx="4490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Website Login</a:t>
            </a:r>
            <a:endParaRPr dirty="0"/>
          </a:p>
        </p:txBody>
      </p:sp>
      <p:sp>
        <p:nvSpPr>
          <p:cNvPr id="196" name="Google Shape;196;p21"/>
          <p:cNvSpPr txBox="1"/>
          <p:nvPr/>
        </p:nvSpPr>
        <p:spPr>
          <a:xfrm>
            <a:off x="6762750" y="2666107"/>
            <a:ext cx="42767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As the Website initializes we make it so you must </a:t>
            </a:r>
            <a:r>
              <a:rPr lang="en-US" sz="1350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sign up or login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6655831" y="4199873"/>
            <a:ext cx="4490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800"/>
                </a:solidFill>
                <a:latin typeface="Urbanist"/>
                <a:ea typeface="Urbanist"/>
                <a:cs typeface="Urbanist"/>
                <a:sym typeface="Urbanist"/>
              </a:rPr>
              <a:t>Daily Check and Calendar</a:t>
            </a:r>
          </a:p>
        </p:txBody>
      </p:sp>
      <p:sp>
        <p:nvSpPr>
          <p:cNvPr id="198" name="Google Shape;198;p21"/>
          <p:cNvSpPr txBox="1"/>
          <p:nvPr/>
        </p:nvSpPr>
        <p:spPr>
          <a:xfrm>
            <a:off x="6655831" y="4579718"/>
            <a:ext cx="42767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A0A8B8"/>
                </a:solidFill>
                <a:latin typeface="DM Sans"/>
                <a:ea typeface="DM Sans"/>
                <a:cs typeface="DM Sans"/>
                <a:sym typeface="DM Sans"/>
              </a:rPr>
              <a:t>When you login you are met with a calendar with the ability to write in your mood</a:t>
            </a:r>
            <a:endParaRPr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962025" y="771525"/>
            <a:ext cx="12773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endParaRPr dirty="0"/>
          </a:p>
        </p:txBody>
      </p:sp>
      <p:sp>
        <p:nvSpPr>
          <p:cNvPr id="200" name="Google Shape;200;p21"/>
          <p:cNvSpPr/>
          <p:nvPr/>
        </p:nvSpPr>
        <p:spPr>
          <a:xfrm>
            <a:off x="771525" y="771525"/>
            <a:ext cx="57150" cy="485775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526BDA9B-CB6D-DE2C-D346-581A3D144C6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2509594" y="697295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3;p14" descr="image.png">
            <a:extLst>
              <a:ext uri="{FF2B5EF4-FFF2-40B4-BE49-F238E27FC236}">
                <a16:creationId xmlns:a16="http://schemas.microsoft.com/office/drawing/2014/main" id="{C8D2D6B8-E746-36A9-C484-67BE34871D8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70317" y="697294"/>
            <a:ext cx="1935903" cy="63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 descr="Medical with solid fill">
            <a:extLst>
              <a:ext uri="{FF2B5EF4-FFF2-40B4-BE49-F238E27FC236}">
                <a16:creationId xmlns:a16="http://schemas.microsoft.com/office/drawing/2014/main" id="{1C33656C-E7D9-6B1E-B5EF-CBDF635225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6458" y="747908"/>
            <a:ext cx="583620" cy="583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" y="0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3001403" y="2348630"/>
            <a:ext cx="6189194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8525</TotalTime>
  <Words>1028</Words>
  <Application>Microsoft Office PowerPoint</Application>
  <PresentationFormat>Widescreen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DM Sans</vt:lpstr>
      <vt:lpstr>DM Sans Medium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Jayden Ankrah</dc:creator>
  <cp:lastModifiedBy>Jayden Ankrah01</cp:lastModifiedBy>
  <cp:revision>12</cp:revision>
  <dcterms:modified xsi:type="dcterms:W3CDTF">2026-08-09T20:17:40Z</dcterms:modified>
</cp:coreProperties>
</file>